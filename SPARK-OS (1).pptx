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ragment Mono"/>
      <p:regular r:id="rId201314"/>
    </p:embeddedFont>
    <p:embeddedFont>
      <p:font typeface="Inter Tight"/>
      <p:regular r:id="rId201315"/>
    </p:embeddedFont>
    <p:embeddedFont>
      <p:font typeface="Inter Tight SemiBold"/>
      <p:regular r:id="rId201316"/>
    </p:embeddedFont>
    <p:embeddedFont>
      <p:font typeface="Inter Tigh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84213"/>
            <a:ext cx="6756231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8000" spc="-360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SPARK</a:t>
            </a:r>
            <a:endParaRPr lang="en-US" sz="80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8000" spc="-360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OS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609585" y="2705100"/>
            <a:ext cx="6756231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2801620"/>
            <a:ext cx="6603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SPARK_OS.TXT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585" y="3080941"/>
            <a:ext cx="6756231" cy="1482229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879" y="3322241"/>
            <a:ext cx="6273643" cy="99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9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Educational mini-OS</a:t>
            </a:r>
            <a:endParaRPr lang="en-US" sz="1450" dirty="0"/>
          </a:p>
          <a:p>
            <a:pPr algn="l" indent="0" marL="0">
              <a:lnSpc>
                <a:spcPct val="113000"/>
              </a:lnSpc>
              <a:spcAft>
                <a:spcPts val="9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Practical OS concept demonstrations</a:t>
            </a:r>
            <a:endParaRPr lang="en-US" sz="14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Command-based learning environment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585" y="5360690"/>
            <a:ext cx="675623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An Interactive Environment for Understanding Operating System Concepts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6138882"/>
            <a:ext cx="711182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THEORY → DIAGRAM → PRACTICAL DEMO → RESULT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B8B8C4"/>
          </a:solidFill>
          <a:ln/>
        </p:spPr>
      </p:sp>
      <p:sp>
        <p:nvSpPr>
          <p:cNvPr id="11" name="Shape 9"/>
          <p:cNvSpPr/>
          <p:nvPr/>
        </p:nvSpPr>
        <p:spPr>
          <a:xfrm>
            <a:off x="7975400" y="381000"/>
            <a:ext cx="3657509" cy="81260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8127797" y="695900"/>
            <a:ext cx="35051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FINAL_INTERFACE.PNG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75400" y="1193602"/>
            <a:ext cx="3657509" cy="5283398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7509" y="1275159"/>
            <a:ext cx="3176111" cy="511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25895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Problem &amp; Gap Analysis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8786" y="1028700"/>
            <a:ext cx="4246754" cy="5040015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4" name="Shape 2"/>
          <p:cNvSpPr/>
          <p:nvPr/>
        </p:nvSpPr>
        <p:spPr>
          <a:xfrm>
            <a:off x="863578" y="1924745"/>
            <a:ext cx="58944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993056" y="1994769"/>
            <a:ext cx="94007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GAP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3578" y="2435384"/>
            <a:ext cx="3637169" cy="2026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Theory-heavy learning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63578" y="4597856"/>
            <a:ext cx="3637169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 difficult to visualize → limited practical understanding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62629" y="2215952"/>
            <a:ext cx="6370280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5415025" y="2312472"/>
            <a:ext cx="621788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RESPONSE.TXT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62629" y="2591792"/>
            <a:ext cx="6370280" cy="2289671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80121" y="2858492"/>
            <a:ext cx="158071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5709599" y="2928517"/>
            <a:ext cx="193134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OUR RESPONSE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580121" y="3322141"/>
            <a:ext cx="5735296" cy="1292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Students need a simpler way to connect OS concepts with observable execution.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Spark OS combines concepts, diagrams, and practical demonstrations.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58786" y="6265882"/>
            <a:ext cx="1163290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GAP | OUR RESPONSE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25895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Final Solution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8786" y="1028700"/>
            <a:ext cx="3892849" cy="544830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4" name="Text 2"/>
          <p:cNvSpPr/>
          <p:nvPr/>
        </p:nvSpPr>
        <p:spPr>
          <a:xfrm>
            <a:off x="914377" y="2353528"/>
            <a:ext cx="3181667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SPARK OS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377" y="3209131"/>
            <a:ext cx="3181667" cy="3165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3423761"/>
            <a:ext cx="318166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LEARN → VISUALIZE → EXECUTE → OBSERVE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377" y="3976489"/>
            <a:ext cx="102996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043854" y="4046514"/>
            <a:ext cx="138059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MODULAR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377" y="4440138"/>
            <a:ext cx="169084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1043854" y="4510163"/>
            <a:ext cx="204147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COMMAND-BASED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377" y="4903788"/>
            <a:ext cx="125032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1043854" y="4973812"/>
            <a:ext cx="160095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PRACTICAL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908725" y="1028700"/>
            <a:ext cx="6724184" cy="128329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5061121" y="1578947"/>
            <a:ext cx="657178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SPARK_SHELL.EXE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08725" y="2311995"/>
            <a:ext cx="6724184" cy="4165005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75418" y="2578695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0039" y="2753320"/>
            <a:ext cx="330192" cy="330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75418" y="3425626"/>
            <a:ext cx="183500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Process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7467612" y="2578695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232" y="2753320"/>
            <a:ext cx="330192" cy="330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67612" y="3425626"/>
            <a:ext cx="160641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IPC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9531211" y="2578695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831" y="2753320"/>
            <a:ext cx="330192" cy="330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531211" y="3425626"/>
            <a:ext cx="183500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Memory</a:t>
            </a:r>
            <a:endParaRPr lang="en-US" sz="1900" dirty="0"/>
          </a:p>
        </p:txBody>
      </p:sp>
      <p:sp>
        <p:nvSpPr>
          <p:cNvPr id="25" name="Shape 20"/>
          <p:cNvSpPr/>
          <p:nvPr/>
        </p:nvSpPr>
        <p:spPr>
          <a:xfrm>
            <a:off x="5175418" y="4623098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039" y="4797723"/>
            <a:ext cx="330192" cy="330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75418" y="5470029"/>
            <a:ext cx="183500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Files</a:t>
            </a:r>
            <a:endParaRPr lang="en-US" sz="1900" dirty="0"/>
          </a:p>
        </p:txBody>
      </p:sp>
      <p:sp>
        <p:nvSpPr>
          <p:cNvPr id="28" name="Shape 22"/>
          <p:cNvSpPr/>
          <p:nvPr/>
        </p:nvSpPr>
        <p:spPr>
          <a:xfrm>
            <a:off x="7467612" y="4623098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2232" y="4797723"/>
            <a:ext cx="330192" cy="330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67612" y="5470029"/>
            <a:ext cx="160641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Threads</a:t>
            </a:r>
            <a:endParaRPr lang="en-US" sz="1900" dirty="0"/>
          </a:p>
        </p:txBody>
      </p:sp>
      <p:sp>
        <p:nvSpPr>
          <p:cNvPr id="31" name="Shape 24"/>
          <p:cNvSpPr/>
          <p:nvPr/>
        </p:nvSpPr>
        <p:spPr>
          <a:xfrm>
            <a:off x="9531211" y="4623098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5831" y="4797723"/>
            <a:ext cx="330192" cy="330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531211" y="5470029"/>
            <a:ext cx="183500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System Calls</a:t>
            </a:r>
            <a:endParaRPr lang="en-US" sz="1900" dirty="0"/>
          </a:p>
        </p:txBody>
      </p:sp>
      <p:sp>
        <p:nvSpPr>
          <p:cNvPr id="34" name="Shape 26"/>
          <p:cNvSpPr/>
          <p:nvPr/>
        </p:nvSpPr>
        <p:spPr>
          <a:xfrm>
            <a:off x="7232667" y="2578695"/>
            <a:ext cx="12700" cy="181580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5" name="Shape 27"/>
          <p:cNvSpPr/>
          <p:nvPr/>
        </p:nvSpPr>
        <p:spPr>
          <a:xfrm>
            <a:off x="9296267" y="2578695"/>
            <a:ext cx="12700" cy="181580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Shape 28"/>
          <p:cNvSpPr/>
          <p:nvPr/>
        </p:nvSpPr>
        <p:spPr>
          <a:xfrm>
            <a:off x="5175418" y="4388148"/>
            <a:ext cx="2063599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7" name="Shape 29"/>
          <p:cNvSpPr/>
          <p:nvPr/>
        </p:nvSpPr>
        <p:spPr>
          <a:xfrm>
            <a:off x="7232667" y="4394498"/>
            <a:ext cx="12700" cy="181580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8" name="Shape 30"/>
          <p:cNvSpPr/>
          <p:nvPr/>
        </p:nvSpPr>
        <p:spPr>
          <a:xfrm>
            <a:off x="7239017" y="4388148"/>
            <a:ext cx="2063599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9" name="Shape 31"/>
          <p:cNvSpPr/>
          <p:nvPr/>
        </p:nvSpPr>
        <p:spPr>
          <a:xfrm>
            <a:off x="9296267" y="4394498"/>
            <a:ext cx="12700" cy="181580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Shape 32"/>
          <p:cNvSpPr/>
          <p:nvPr/>
        </p:nvSpPr>
        <p:spPr>
          <a:xfrm>
            <a:off x="9302616" y="4388148"/>
            <a:ext cx="2063599" cy="12700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25895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Novelty of Spark 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1022350"/>
            <a:ext cx="110741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-10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Connecting OS theory with visual and executable demonstrations in one learning environment.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58786" y="1679575"/>
            <a:ext cx="11074123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1776095"/>
            <a:ext cx="1092172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LEARNING_LOOP.EXE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8786" y="2055416"/>
            <a:ext cx="11074123" cy="4429720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879" y="3512741"/>
            <a:ext cx="10489938" cy="28575"/>
          </a:xfrm>
          <a:prstGeom prst="roundRect">
            <a:avLst>
              <a:gd name="adj" fmla="val 39999"/>
            </a:avLst>
          </a:prstGeom>
          <a:solidFill>
            <a:srgbClr val="9A9A9A"/>
          </a:solidFill>
          <a:ln/>
        </p:spPr>
      </p:sp>
      <p:sp>
        <p:nvSpPr>
          <p:cNvPr id="8" name="Shape 6"/>
          <p:cNvSpPr/>
          <p:nvPr/>
        </p:nvSpPr>
        <p:spPr>
          <a:xfrm>
            <a:off x="2494892" y="2865041"/>
            <a:ext cx="28574" cy="647700"/>
          </a:xfrm>
          <a:prstGeom prst="roundRect">
            <a:avLst>
              <a:gd name="adj" fmla="val 40000"/>
            </a:avLst>
          </a:prstGeom>
          <a:solidFill>
            <a:srgbClr val="876CD9"/>
          </a:solidFill>
          <a:ln/>
        </p:spPr>
      </p:sp>
      <p:sp>
        <p:nvSpPr>
          <p:cNvPr id="9" name="Shape 7"/>
          <p:cNvSpPr/>
          <p:nvPr/>
        </p:nvSpPr>
        <p:spPr>
          <a:xfrm>
            <a:off x="2266298" y="3269853"/>
            <a:ext cx="485763" cy="485775"/>
          </a:xfrm>
          <a:prstGeom prst="roundRect">
            <a:avLst>
              <a:gd name="adj" fmla="val 2353"/>
            </a:avLst>
          </a:prstGeom>
          <a:solidFill>
            <a:srgbClr val="A186F3"/>
          </a:solidFill>
          <a:ln w="12700">
            <a:solidFill>
              <a:srgbClr val="876C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47258" y="3350816"/>
            <a:ext cx="32384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spc="-89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66724" y="2347516"/>
            <a:ext cx="288491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66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Concept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288226" y="3512741"/>
            <a:ext cx="28574" cy="647700"/>
          </a:xfrm>
          <a:prstGeom prst="roundRect">
            <a:avLst>
              <a:gd name="adj" fmla="val 40000"/>
            </a:avLst>
          </a:prstGeom>
          <a:solidFill>
            <a:srgbClr val="876DE2"/>
          </a:solidFill>
          <a:ln/>
        </p:spPr>
      </p:sp>
      <p:sp>
        <p:nvSpPr>
          <p:cNvPr id="13" name="Shape 11"/>
          <p:cNvSpPr/>
          <p:nvPr/>
        </p:nvSpPr>
        <p:spPr>
          <a:xfrm>
            <a:off x="4059632" y="3269853"/>
            <a:ext cx="485763" cy="485775"/>
          </a:xfrm>
          <a:prstGeom prst="roundRect">
            <a:avLst>
              <a:gd name="adj" fmla="val 2353"/>
            </a:avLst>
          </a:prstGeom>
          <a:solidFill>
            <a:srgbClr val="6E54C9"/>
          </a:solidFill>
          <a:ln w="12700">
            <a:solidFill>
              <a:srgbClr val="876D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0593" y="3350816"/>
            <a:ext cx="32384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spc="-89" kern="1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2860008" y="4376341"/>
            <a:ext cx="288501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66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Theory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081461" y="2865041"/>
            <a:ext cx="28574" cy="647700"/>
          </a:xfrm>
          <a:prstGeom prst="roundRect">
            <a:avLst>
              <a:gd name="adj" fmla="val 40000"/>
            </a:avLst>
          </a:prstGeom>
          <a:solidFill>
            <a:srgbClr val="4D3988"/>
          </a:solidFill>
          <a:ln/>
        </p:spPr>
      </p:sp>
      <p:sp>
        <p:nvSpPr>
          <p:cNvPr id="17" name="Shape 15"/>
          <p:cNvSpPr/>
          <p:nvPr/>
        </p:nvSpPr>
        <p:spPr>
          <a:xfrm>
            <a:off x="5852867" y="3269853"/>
            <a:ext cx="485763" cy="485775"/>
          </a:xfrm>
          <a:prstGeom prst="roundRect">
            <a:avLst>
              <a:gd name="adj" fmla="val 2353"/>
            </a:avLst>
          </a:prstGeom>
          <a:solidFill>
            <a:srgbClr val="34206F"/>
          </a:solidFill>
          <a:ln w="12700">
            <a:solidFill>
              <a:srgbClr val="4D39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33827" y="3350816"/>
            <a:ext cx="32384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spc="-89" kern="1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3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4653293" y="2347516"/>
            <a:ext cx="288491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66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Diagram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874795" y="3512741"/>
            <a:ext cx="28574" cy="647700"/>
          </a:xfrm>
          <a:prstGeom prst="roundRect">
            <a:avLst>
              <a:gd name="adj" fmla="val 40000"/>
            </a:avLst>
          </a:prstGeom>
          <a:solidFill>
            <a:srgbClr val="333333"/>
          </a:solidFill>
          <a:ln/>
        </p:spPr>
      </p:sp>
      <p:sp>
        <p:nvSpPr>
          <p:cNvPr id="21" name="Shape 19"/>
          <p:cNvSpPr/>
          <p:nvPr/>
        </p:nvSpPr>
        <p:spPr>
          <a:xfrm>
            <a:off x="7646201" y="3269853"/>
            <a:ext cx="485763" cy="485775"/>
          </a:xfrm>
          <a:prstGeom prst="roundRect">
            <a:avLst>
              <a:gd name="adj" fmla="val 235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7161" y="3350816"/>
            <a:ext cx="32384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spc="-89" kern="10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4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6446627" y="4376341"/>
            <a:ext cx="288491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66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Command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9668129" y="2865041"/>
            <a:ext cx="28574" cy="647700"/>
          </a:xfrm>
          <a:prstGeom prst="roundRect">
            <a:avLst>
              <a:gd name="adj" fmla="val 40000"/>
            </a:avLst>
          </a:prstGeom>
          <a:solidFill>
            <a:srgbClr val="876CD9"/>
          </a:solidFill>
          <a:ln/>
        </p:spPr>
      </p:sp>
      <p:sp>
        <p:nvSpPr>
          <p:cNvPr id="25" name="Shape 23"/>
          <p:cNvSpPr/>
          <p:nvPr/>
        </p:nvSpPr>
        <p:spPr>
          <a:xfrm>
            <a:off x="9439535" y="3269853"/>
            <a:ext cx="485763" cy="485775"/>
          </a:xfrm>
          <a:prstGeom prst="roundRect">
            <a:avLst>
              <a:gd name="adj" fmla="val 2353"/>
            </a:avLst>
          </a:prstGeom>
          <a:solidFill>
            <a:srgbClr val="A186F3"/>
          </a:solidFill>
          <a:ln w="12700">
            <a:solidFill>
              <a:srgbClr val="876C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0495" y="3350816"/>
            <a:ext cx="32384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50" spc="-89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5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8239911" y="2347516"/>
            <a:ext cx="288501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66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Live Result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850879" y="4804966"/>
            <a:ext cx="47931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980356" y="4874990"/>
            <a:ext cx="82994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01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50879" y="5276711"/>
            <a:ext cx="239389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Interactive learning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3549561" y="4804966"/>
            <a:ext cx="47931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3679038" y="4874990"/>
            <a:ext cx="82994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02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549561" y="5276711"/>
            <a:ext cx="239389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Visual representation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248244" y="4804966"/>
            <a:ext cx="47931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5" name="Text 33"/>
          <p:cNvSpPr/>
          <p:nvPr/>
        </p:nvSpPr>
        <p:spPr>
          <a:xfrm>
            <a:off x="6377721" y="4874990"/>
            <a:ext cx="82994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03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248244" y="5276711"/>
            <a:ext cx="239389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Practical execution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8946926" y="4804966"/>
            <a:ext cx="47931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9076403" y="4874990"/>
            <a:ext cx="82994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04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946926" y="5276711"/>
            <a:ext cx="239389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Modular learning environment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249" y="3213100"/>
            <a:ext cx="431789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75081" y="344861"/>
            <a:ext cx="7111822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112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Final System Architecture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775081" y="927100"/>
            <a:ext cx="7111822" cy="1288455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6" name="Shape 3"/>
          <p:cNvSpPr/>
          <p:nvPr/>
        </p:nvSpPr>
        <p:spPr>
          <a:xfrm>
            <a:off x="4775081" y="2209205"/>
            <a:ext cx="7111822" cy="635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7" name="Shape 4"/>
          <p:cNvSpPr/>
          <p:nvPr/>
        </p:nvSpPr>
        <p:spPr>
          <a:xfrm>
            <a:off x="4927477" y="1079500"/>
            <a:ext cx="80970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5056954" y="1149525"/>
            <a:ext cx="116033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INPUT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27477" y="1572677"/>
            <a:ext cx="6807030" cy="55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600" spc="-207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User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4775081" y="2367955"/>
            <a:ext cx="7111822" cy="1082774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11" name="Shape 8"/>
          <p:cNvSpPr/>
          <p:nvPr/>
        </p:nvSpPr>
        <p:spPr>
          <a:xfrm>
            <a:off x="4775081" y="3444379"/>
            <a:ext cx="7111822" cy="635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12" name="Shape 9"/>
          <p:cNvSpPr/>
          <p:nvPr/>
        </p:nvSpPr>
        <p:spPr>
          <a:xfrm>
            <a:off x="4927477" y="2520355"/>
            <a:ext cx="102996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954" y="2590379"/>
            <a:ext cx="138059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CONTROL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927477" y="2955429"/>
            <a:ext cx="680703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11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Command-Based Interface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775081" y="3603129"/>
            <a:ext cx="7111822" cy="1179909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6" name="Shape 13"/>
          <p:cNvSpPr/>
          <p:nvPr/>
        </p:nvSpPr>
        <p:spPr>
          <a:xfrm>
            <a:off x="4775081" y="4776688"/>
            <a:ext cx="7111822" cy="635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17" name="Shape 14"/>
          <p:cNvSpPr/>
          <p:nvPr/>
        </p:nvSpPr>
        <p:spPr>
          <a:xfrm>
            <a:off x="4927477" y="3755529"/>
            <a:ext cx="69957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5"/>
          <p:cNvSpPr/>
          <p:nvPr/>
        </p:nvSpPr>
        <p:spPr>
          <a:xfrm>
            <a:off x="5056954" y="3825554"/>
            <a:ext cx="105020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CORE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927477" y="4237752"/>
            <a:ext cx="6807030" cy="446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700" spc="-166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Spark OS</a:t>
            </a:r>
            <a:endParaRPr lang="en-US" sz="3700" dirty="0"/>
          </a:p>
        </p:txBody>
      </p:sp>
      <p:sp>
        <p:nvSpPr>
          <p:cNvPr id="20" name="Shape 17"/>
          <p:cNvSpPr/>
          <p:nvPr/>
        </p:nvSpPr>
        <p:spPr>
          <a:xfrm>
            <a:off x="4775081" y="5730379"/>
            <a:ext cx="7111822" cy="635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21" name="Text 18"/>
          <p:cNvSpPr/>
          <p:nvPr/>
        </p:nvSpPr>
        <p:spPr>
          <a:xfrm>
            <a:off x="4927477" y="5087838"/>
            <a:ext cx="6807030" cy="49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95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BOOTABLE MINI-KERNEL </a:t>
            </a:r>
            <a:pPr algn="l" indent="0" marL="0">
              <a:lnSpc>
                <a:spcPct val="108000"/>
              </a:lnSpc>
              <a:spcAft>
                <a:spcPts val="95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pPr algn="l" indent="0" marL="0">
              <a:lnSpc>
                <a:spcPct val="108000"/>
              </a:lnSpc>
              <a:spcAft>
                <a:spcPts val="95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 UBUNTU PRACTICAL ENVIRONMENT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TWO COMPLEMENTARY IMPLEMENTATION ENVIRONMENTS</a:t>
            </a:r>
            <a:endParaRPr lang="en-US" sz="11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96" y="1193701"/>
            <a:ext cx="4031058" cy="41168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25895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Process Management &amp; Scheduling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1036796"/>
            <a:ext cx="1163290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Process lifecycle and CPU scheduling are demonstrated through an interactive process environment.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58786" y="1513780"/>
            <a:ext cx="11074123" cy="40649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1625580"/>
            <a:ext cx="1092172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PROCESS_STATES.LOG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8786" y="1920280"/>
            <a:ext cx="11074123" cy="1146274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786" y="2184956"/>
            <a:ext cx="11074123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New → Ready → Running → Terminated; Ready → Waiting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8786" y="2598757"/>
            <a:ext cx="1107412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ROUND ROBIN: P1 → P2 → P3 → P1 → 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8786" y="3371354"/>
            <a:ext cx="3488146" cy="3105646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51725" y="3371354"/>
            <a:ext cx="3488146" cy="3105646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3019" y="4713010"/>
            <a:ext cx="300555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INSERT PROCESS STATES SCREENSHOT HERE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44663" y="3371354"/>
            <a:ext cx="3488246" cy="3105646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5019" y="3594795"/>
            <a:ext cx="3081459" cy="2798564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43" y="3760688"/>
            <a:ext cx="3199923" cy="2466876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30" y="3594795"/>
            <a:ext cx="2396073" cy="27421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25895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OS Concept Demonstrations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8786" y="1028700"/>
            <a:ext cx="11074123" cy="180786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711182" y="1841183"/>
            <a:ext cx="1092172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MODULES.LOG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8786" y="2836565"/>
            <a:ext cx="11074123" cy="3869035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879" y="3092946"/>
            <a:ext cx="326798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IPC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50879" y="3543161"/>
            <a:ext cx="349658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Pipe · FIFO · Signal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6053" y="3092946"/>
            <a:ext cx="303949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Memory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6053" y="3543161"/>
            <a:ext cx="326808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Layout · malloc/free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072732" y="3092946"/>
            <a:ext cx="326808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Files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072732" y="3543161"/>
            <a:ext cx="326808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File I/O · File Descriptor · Inode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0879" y="5014714"/>
            <a:ext cx="501637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Threads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0879" y="5464929"/>
            <a:ext cx="524496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Threads · Mutex · Semaphore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24442" y="5014714"/>
            <a:ext cx="501637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System Calls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24442" y="5464929"/>
            <a:ext cx="501637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Demonstration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341109" y="3077865"/>
            <a:ext cx="12700" cy="16931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7837788" y="3077865"/>
            <a:ext cx="12700" cy="16931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879" y="4764683"/>
            <a:ext cx="5244969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9498" y="4771033"/>
            <a:ext cx="12700" cy="169326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48" y="4764683"/>
            <a:ext cx="5244969" cy="12700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25895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Final Working Demonstration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1036796"/>
            <a:ext cx="1163290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Command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→ Module → Demonstration → Result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58786" y="1513780"/>
            <a:ext cx="11074123" cy="129351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2069088"/>
            <a:ext cx="1092172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FINAL_RUN.LOG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8786" y="2807295"/>
            <a:ext cx="11074123" cy="3669705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080" y="2997795"/>
          <a:ext cx="10591535" cy="914400"/>
        </p:xfrm>
        <a:graphic>
          <a:graphicData uri="http://schemas.openxmlformats.org/drawingml/2006/table">
            <a:tbl>
              <a:tblPr/>
              <a:tblGrid>
                <a:gridCol w="3601055"/>
                <a:gridCol w="6990481"/>
              </a:tblGrid>
              <a:tr h="4767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Fragment Mono" pitchFamily="34" charset="0"/>
                          <a:ea typeface="Fragment Mono" pitchFamily="34" charset="-122"/>
                          <a:cs typeface="Fragment Mono" pitchFamily="34" charset="-120"/>
                        </a:rPr>
                        <a:t>MAIN INTERFACE</a:t>
                      </a:r>
                      <a:endParaRPr lang="en-US" sz="1300" dirty="0">
                        <a:latin typeface="Fragment Mono" charset="0"/>
                        <a:ea typeface="Fragment Mono" charset="0"/>
                        <a:cs typeface="Fragment Mono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A"/>
                    </a:solidFill>
                  </a:tcPr>
                </a:tc>
              </a:tr>
              <a:tr h="4767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Fragment Mono" pitchFamily="34" charset="0"/>
                          <a:ea typeface="Fragment Mono" pitchFamily="34" charset="-122"/>
                          <a:cs typeface="Fragment Mono" pitchFamily="34" charset="-120"/>
                        </a:rPr>
                        <a:t>PROCESS DEMO</a:t>
                      </a:r>
                      <a:endParaRPr lang="en-US" sz="1300" dirty="0">
                        <a:latin typeface="Fragment Mono" charset="0"/>
                        <a:ea typeface="Fragment Mono" charset="0"/>
                        <a:cs typeface="Fragment Mono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A"/>
                    </a:solidFill>
                  </a:tcPr>
                </a:tc>
              </a:tr>
              <a:tr h="4767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Fragment Mono" pitchFamily="34" charset="0"/>
                          <a:ea typeface="Fragment Mono" pitchFamily="34" charset="-122"/>
                          <a:cs typeface="Fragment Mono" pitchFamily="34" charset="-120"/>
                        </a:rPr>
                        <a:t>IPC DEMO</a:t>
                      </a:r>
                      <a:endParaRPr lang="en-US" sz="1300" dirty="0">
                        <a:latin typeface="Fragment Mono" charset="0"/>
                        <a:ea typeface="Fragment Mono" charset="0"/>
                        <a:cs typeface="Fragment Mono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A"/>
                    </a:solidFill>
                  </a:tcPr>
                </a:tc>
              </a:tr>
              <a:tr h="4767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Fragment Mono" pitchFamily="34" charset="0"/>
                          <a:ea typeface="Fragment Mono" pitchFamily="34" charset="-122"/>
                          <a:cs typeface="Fragment Mono" pitchFamily="34" charset="-120"/>
                        </a:rPr>
                        <a:t>MEMORY / FILE DEMO</a:t>
                      </a:r>
                      <a:endParaRPr lang="en-US" sz="1300" dirty="0">
                        <a:latin typeface="Fragment Mono" charset="0"/>
                        <a:ea typeface="Fragment Mono" charset="0"/>
                        <a:cs typeface="Fragment Mono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A"/>
                    </a:solidFill>
                  </a:tcPr>
                </a:tc>
              </a:tr>
              <a:tr h="4640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Fragment Mono" pitchFamily="34" charset="0"/>
                          <a:ea typeface="Fragment Mono" pitchFamily="34" charset="-122"/>
                          <a:cs typeface="Fragment Mono" pitchFamily="34" charset="-120"/>
                        </a:rPr>
                        <a:t>SYNCHRONIZATION DEMO</a:t>
                      </a:r>
                      <a:endParaRPr lang="en-US" sz="1300" dirty="0">
                        <a:latin typeface="Fragment Mono" charset="0"/>
                        <a:ea typeface="Fragment Mono" charset="0"/>
                        <a:cs typeface="Fragment Mono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6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00080" y="3461830"/>
            <a:ext cx="10591535" cy="1270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9" name="Shape 6"/>
          <p:cNvSpPr/>
          <p:nvPr/>
        </p:nvSpPr>
        <p:spPr>
          <a:xfrm>
            <a:off x="800080" y="3938564"/>
            <a:ext cx="10591535" cy="1270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10" name="Shape 7"/>
          <p:cNvSpPr/>
          <p:nvPr/>
        </p:nvSpPr>
        <p:spPr>
          <a:xfrm>
            <a:off x="800080" y="4415298"/>
            <a:ext cx="10591535" cy="1270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11" name="Shape 8"/>
          <p:cNvSpPr/>
          <p:nvPr/>
        </p:nvSpPr>
        <p:spPr>
          <a:xfrm>
            <a:off x="800080" y="4892032"/>
            <a:ext cx="10591535" cy="12700"/>
          </a:xfrm>
          <a:prstGeom prst="rect">
            <a:avLst/>
          </a:prstGeom>
          <a:solidFill>
            <a:srgbClr val="9A9A9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182213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Advantages &amp; Future Scope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8786" y="785019"/>
            <a:ext cx="5308467" cy="5450582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4" name="Shape 2"/>
          <p:cNvSpPr/>
          <p:nvPr/>
        </p:nvSpPr>
        <p:spPr>
          <a:xfrm>
            <a:off x="787380" y="1013619"/>
            <a:ext cx="268221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916858" y="1083643"/>
            <a:ext cx="303284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CURRENT IMPLEMENTATION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87380" y="1450280"/>
            <a:ext cx="485127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Advantages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7380" y="1980664"/>
            <a:ext cx="48512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Beginner-friendly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7380" y="2729270"/>
            <a:ext cx="48512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Interactive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7380" y="3477875"/>
            <a:ext cx="48512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Command-based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380" y="4226481"/>
            <a:ext cx="48512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Visual learning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87380" y="4975086"/>
            <a:ext cx="48512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Practical execution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7380" y="5723692"/>
            <a:ext cx="48512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Modular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24442" y="785019"/>
            <a:ext cx="5308467" cy="5450582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53036" y="1013619"/>
            <a:ext cx="2021333" cy="336649"/>
          </a:xfrm>
          <a:prstGeom prst="rect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82513" y="1083643"/>
            <a:ext cx="237196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FUTURE EXTENSION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53036" y="1450280"/>
            <a:ext cx="485127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53036" y="1980664"/>
            <a:ext cx="48512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More scheduling techniques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53036" y="2729270"/>
            <a:ext cx="48512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Extended memory simulations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53036" y="3477875"/>
            <a:ext cx="48512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Additional filesystem concepts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53036" y="4226481"/>
            <a:ext cx="48512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More IPC mechanisms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53036" y="4975086"/>
            <a:ext cx="48512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More advanced learning interface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58786" y="6437372"/>
            <a:ext cx="1163290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Current Implementation → Future Extension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87380" y="2486223"/>
            <a:ext cx="4851279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787380" y="3234829"/>
            <a:ext cx="4851279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787380" y="3983434"/>
            <a:ext cx="4851279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787380" y="4732040"/>
            <a:ext cx="4851279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Shape 25"/>
          <p:cNvSpPr/>
          <p:nvPr/>
        </p:nvSpPr>
        <p:spPr>
          <a:xfrm>
            <a:off x="787380" y="5480645"/>
            <a:ext cx="4851279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Shape 26"/>
          <p:cNvSpPr/>
          <p:nvPr/>
        </p:nvSpPr>
        <p:spPr>
          <a:xfrm>
            <a:off x="6553036" y="2486223"/>
            <a:ext cx="4851279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53036" y="3234829"/>
            <a:ext cx="4851279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6553036" y="3983434"/>
            <a:ext cx="4851279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6553036" y="4732040"/>
            <a:ext cx="4851279" cy="12700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6858000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66420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FINAL_OUTCOME.TXT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84693"/>
            <a:ext cx="7162621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161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Final Outcome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09585" y="1864221"/>
            <a:ext cx="7162621" cy="3397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Theory 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 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Understanding </a:t>
            </a:r>
            <a:endParaRPr lang="en-US" sz="1700" dirty="0"/>
          </a:p>
          <a:p>
            <a:pPr algn="l" indent="0" marL="0">
              <a:lnSpc>
                <a:spcPct val="112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 </a:t>
            </a:r>
            <a:endParaRPr lang="en-US" sz="1700" dirty="0"/>
          </a:p>
          <a:p>
            <a:pPr algn="l" indent="0" marL="0">
              <a:lnSpc>
                <a:spcPct val="112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Diagram 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 </a:t>
            </a:r>
            <a:endParaRPr lang="en-US" sz="1700" dirty="0"/>
          </a:p>
          <a:p>
            <a:pPr algn="l" indent="0" marL="0">
              <a:lnSpc>
                <a:spcPct val="112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Practical Execution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→ 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Observable Result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5924272"/>
            <a:ext cx="716262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SPARK OS PROVIDES A PRACTICAL AND BEGINNER-FRIENDLY APPROACH TO UNDERSTANDING OS CONCEPTS THROUGH INTERACTIVE DEMONSTRATIONS.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7797" y="0"/>
            <a:ext cx="4063898" cy="6858000"/>
          </a:xfrm>
          <a:prstGeom prst="rect">
            <a:avLst/>
          </a:prstGeom>
          <a:solidFill>
            <a:srgbClr val="B8B8C4"/>
          </a:solidFill>
          <a:ln/>
        </p:spPr>
      </p:sp>
      <p:sp>
        <p:nvSpPr>
          <p:cNvPr id="8" name="Shape 6"/>
          <p:cNvSpPr/>
          <p:nvPr/>
        </p:nvSpPr>
        <p:spPr>
          <a:xfrm>
            <a:off x="8381790" y="381000"/>
            <a:ext cx="3251119" cy="95815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8534187" y="768628"/>
            <a:ext cx="30987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SPARK_OS.RESULT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81790" y="1339155"/>
            <a:ext cx="3251119" cy="5137845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7685" y="1588552"/>
            <a:ext cx="2819329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Educational mini-OS foundation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97685" y="2628563"/>
            <a:ext cx="281932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Interactive OS demonstrations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7685" y="3377168"/>
            <a:ext cx="281932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Command-based learning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97685" y="4125774"/>
            <a:ext cx="2819329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Modular and extendable platform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327123" y="4970066"/>
            <a:ext cx="1360453" cy="336649"/>
          </a:xfrm>
          <a:prstGeom prst="roundRect">
            <a:avLst>
              <a:gd name="adj" fmla="val 3395"/>
            </a:avLst>
          </a:prstGeom>
          <a:solidFill>
            <a:srgbClr val="DBD1FA"/>
          </a:solidFill>
          <a:ln/>
        </p:spPr>
      </p:sp>
      <p:sp>
        <p:nvSpPr>
          <p:cNvPr id="16" name="Text 14"/>
          <p:cNvSpPr/>
          <p:nvPr/>
        </p:nvSpPr>
        <p:spPr>
          <a:xfrm>
            <a:off x="9456600" y="5040090"/>
            <a:ext cx="171108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THANK YOU 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597685" y="2385516"/>
            <a:ext cx="2819329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8597685" y="3134122"/>
            <a:ext cx="2819329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7685" y="3882727"/>
            <a:ext cx="2819329" cy="12700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2026-10-07T05:56:38Z</dcterms:created>
  <dcterms:modified xsi:type="dcterms:W3CDTF">2026-10-07T05:56:38Z</dcterms:modified>
</cp:coreProperties>
</file>