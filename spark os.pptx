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grandir Grand" panose="020B0604020202020204" charset="0"/>
      <p:regular r:id="rId19"/>
    </p:embeddedFont>
    <p:embeddedFont>
      <p:font typeface="Poppins" panose="00000500000000000000" pitchFamily="2" charset="0"/>
      <p:regular r:id="rId20"/>
    </p:embeddedFont>
    <p:embeddedFont>
      <p:font typeface="Poppins Bold" panose="00000800000000000000" charset="0"/>
      <p:regular r:id="rId21"/>
    </p:embeddedFont>
    <p:embeddedFont>
      <p:font typeface="Poppins Italic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04-08-2026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04-08-2026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04-08-2026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3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0.png"/><Relationship Id="rId7" Type="http://schemas.openxmlformats.org/officeDocument/2006/relationships/image" Target="../media/image1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61945" y="-2394969"/>
            <a:ext cx="6836948" cy="6875794"/>
          </a:xfrm>
          <a:custGeom>
            <a:avLst/>
            <a:gdLst/>
            <a:ahLst/>
            <a:cxnLst/>
            <a:rect l="l" t="t" r="r" b="b"/>
            <a:pathLst>
              <a:path w="6836948" h="6875794">
                <a:moveTo>
                  <a:pt x="0" y="0"/>
                </a:moveTo>
                <a:lnTo>
                  <a:pt x="6836948" y="0"/>
                </a:lnTo>
                <a:lnTo>
                  <a:pt x="6836948" y="6875794"/>
                </a:lnTo>
                <a:lnTo>
                  <a:pt x="0" y="6875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49062" y="7265084"/>
            <a:ext cx="8846281" cy="1631733"/>
            <a:chOff x="0" y="0"/>
            <a:chExt cx="2338305" cy="4313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8305" cy="431310"/>
            </a:xfrm>
            <a:custGeom>
              <a:avLst/>
              <a:gdLst/>
              <a:ahLst/>
              <a:cxnLst/>
              <a:rect l="l" t="t" r="r" b="b"/>
              <a:pathLst>
                <a:path w="2338305" h="431310">
                  <a:moveTo>
                    <a:pt x="71763" y="0"/>
                  </a:moveTo>
                  <a:lnTo>
                    <a:pt x="2266542" y="0"/>
                  </a:lnTo>
                  <a:cubicBezTo>
                    <a:pt x="2306176" y="0"/>
                    <a:pt x="2338305" y="32129"/>
                    <a:pt x="2338305" y="71763"/>
                  </a:cubicBezTo>
                  <a:lnTo>
                    <a:pt x="2338305" y="359547"/>
                  </a:lnTo>
                  <a:cubicBezTo>
                    <a:pt x="2338305" y="378580"/>
                    <a:pt x="2330744" y="396833"/>
                    <a:pt x="2317286" y="410291"/>
                  </a:cubicBezTo>
                  <a:cubicBezTo>
                    <a:pt x="2303828" y="423749"/>
                    <a:pt x="2285575" y="431310"/>
                    <a:pt x="2266542" y="431310"/>
                  </a:cubicBezTo>
                  <a:lnTo>
                    <a:pt x="71763" y="431310"/>
                  </a:lnTo>
                  <a:cubicBezTo>
                    <a:pt x="52730" y="431310"/>
                    <a:pt x="34477" y="423749"/>
                    <a:pt x="21019" y="410291"/>
                  </a:cubicBezTo>
                  <a:cubicBezTo>
                    <a:pt x="7561" y="396833"/>
                    <a:pt x="0" y="378580"/>
                    <a:pt x="0" y="359547"/>
                  </a:cubicBezTo>
                  <a:lnTo>
                    <a:pt x="0" y="71763"/>
                  </a:lnTo>
                  <a:cubicBezTo>
                    <a:pt x="0" y="52730"/>
                    <a:pt x="7561" y="34477"/>
                    <a:pt x="21019" y="21019"/>
                  </a:cubicBezTo>
                  <a:cubicBezTo>
                    <a:pt x="34477" y="7561"/>
                    <a:pt x="52730" y="0"/>
                    <a:pt x="71763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338305" cy="488460"/>
            </a:xfrm>
            <a:prstGeom prst="rect">
              <a:avLst/>
            </a:prstGeom>
          </p:spPr>
          <p:txBody>
            <a:bodyPr lIns="52378" tIns="52378" rIns="52378" bIns="52378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290857" y="1222565"/>
            <a:ext cx="5748420" cy="5748420"/>
          </a:xfrm>
          <a:custGeom>
            <a:avLst/>
            <a:gdLst/>
            <a:ahLst/>
            <a:cxnLst/>
            <a:rect l="l" t="t" r="r" b="b"/>
            <a:pathLst>
              <a:path w="5748420" h="5748420">
                <a:moveTo>
                  <a:pt x="0" y="0"/>
                </a:moveTo>
                <a:lnTo>
                  <a:pt x="5748420" y="0"/>
                </a:lnTo>
                <a:lnTo>
                  <a:pt x="5748420" y="5748419"/>
                </a:lnTo>
                <a:lnTo>
                  <a:pt x="0" y="5748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42796" y="5182185"/>
            <a:ext cx="1653141" cy="1656237"/>
          </a:xfrm>
          <a:custGeom>
            <a:avLst/>
            <a:gdLst/>
            <a:ahLst/>
            <a:cxnLst/>
            <a:rect l="l" t="t" r="r" b="b"/>
            <a:pathLst>
              <a:path w="1653141" h="1656237">
                <a:moveTo>
                  <a:pt x="0" y="0"/>
                </a:moveTo>
                <a:lnTo>
                  <a:pt x="1653141" y="0"/>
                </a:lnTo>
                <a:lnTo>
                  <a:pt x="1653141" y="1656237"/>
                </a:lnTo>
                <a:lnTo>
                  <a:pt x="0" y="1656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4903270" y="1824363"/>
            <a:ext cx="3645748" cy="9386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49062" y="2955193"/>
            <a:ext cx="9369097" cy="359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555"/>
              </a:lnSpc>
            </a:pPr>
            <a:r>
              <a:rPr lang="en-US" sz="12555" dirty="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SPARK 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8682" y="7637035"/>
            <a:ext cx="7327041" cy="92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1"/>
              </a:lnSpc>
            </a:pPr>
            <a:r>
              <a:rPr lang="en-US" sz="3471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A Mini Operating System — Built from the Ground Up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49048" y="1637833"/>
            <a:ext cx="3221575" cy="769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1"/>
              </a:lnSpc>
            </a:pPr>
            <a:r>
              <a:rPr lang="en-US" sz="2821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College Mini OS Project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9836" y="7878719"/>
            <a:ext cx="5859117" cy="165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81"/>
              </a:lnSpc>
            </a:pPr>
            <a:r>
              <a:rPr lang="en-US" sz="3181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2510030061 – M Sai Harsha</a:t>
            </a:r>
          </a:p>
          <a:p>
            <a:pPr marL="0" lvl="0" indent="0" algn="l">
              <a:lnSpc>
                <a:spcPts val="3181"/>
              </a:lnSpc>
            </a:pPr>
            <a:r>
              <a:rPr lang="en-US" sz="3181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2510030205- K Sai Charan </a:t>
            </a:r>
          </a:p>
          <a:p>
            <a:pPr marL="0" lvl="0" indent="0" algn="l">
              <a:lnSpc>
                <a:spcPts val="3181"/>
              </a:lnSpc>
            </a:pPr>
            <a:r>
              <a:rPr lang="en-US" sz="3181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2510030081-K Uday Kiran</a:t>
            </a:r>
          </a:p>
          <a:p>
            <a:pPr marL="0" lvl="0" indent="0" algn="l">
              <a:lnSpc>
                <a:spcPts val="3181"/>
              </a:lnSpc>
            </a:pPr>
            <a:r>
              <a:rPr lang="en-US" sz="3181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2510030251- P Ananya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815AED-F6EB-72CE-2530-115204C6FB8C}"/>
              </a:ext>
            </a:extLst>
          </p:cNvPr>
          <p:cNvSpPr txBox="1"/>
          <p:nvPr/>
        </p:nvSpPr>
        <p:spPr>
          <a:xfrm>
            <a:off x="4189174" y="725678"/>
            <a:ext cx="10203366" cy="464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3181"/>
              </a:lnSpc>
            </a:pPr>
            <a:r>
              <a:rPr lang="en-US" sz="1800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 Tech Titans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6062" y="4450851"/>
            <a:ext cx="8475866" cy="7871961"/>
          </a:xfrm>
          <a:custGeom>
            <a:avLst/>
            <a:gdLst/>
            <a:ahLst/>
            <a:cxnLst/>
            <a:rect l="l" t="t" r="r" b="b"/>
            <a:pathLst>
              <a:path w="8475866" h="7871961">
                <a:moveTo>
                  <a:pt x="0" y="0"/>
                </a:moveTo>
                <a:lnTo>
                  <a:pt x="8475866" y="0"/>
                </a:lnTo>
                <a:lnTo>
                  <a:pt x="8475866" y="7871960"/>
                </a:lnTo>
                <a:lnTo>
                  <a:pt x="0" y="7871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36226" y="2235854"/>
            <a:ext cx="1940829" cy="1944031"/>
          </a:xfrm>
          <a:custGeom>
            <a:avLst/>
            <a:gdLst/>
            <a:ahLst/>
            <a:cxnLst/>
            <a:rect l="l" t="t" r="r" b="b"/>
            <a:pathLst>
              <a:path w="1940829" h="1944031">
                <a:moveTo>
                  <a:pt x="0" y="0"/>
                </a:moveTo>
                <a:lnTo>
                  <a:pt x="1940829" y="0"/>
                </a:lnTo>
                <a:lnTo>
                  <a:pt x="1940829" y="1944032"/>
                </a:lnTo>
                <a:lnTo>
                  <a:pt x="0" y="19440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8000"/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6938276" y="6783086"/>
            <a:ext cx="9632841" cy="0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6692802" y="3589776"/>
            <a:ext cx="9993237" cy="2628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363"/>
              </a:lnSpc>
            </a:pPr>
            <a:r>
              <a:rPr lang="en-US" sz="6363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SPARK OS</a:t>
            </a:r>
          </a:p>
          <a:p>
            <a:pPr marL="0" lvl="0" indent="0" algn="r">
              <a:lnSpc>
                <a:spcPts val="6363"/>
              </a:lnSpc>
            </a:pPr>
            <a:r>
              <a:rPr lang="en-US" sz="6363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REDEFINING THE FUTURE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65069" y="7643398"/>
            <a:ext cx="9699882" cy="141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20"/>
              </a:lnSpc>
            </a:pPr>
            <a:r>
              <a:rPr lang="en-US" sz="2720" dirty="0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A comprehensive mini-OS project exploring core operating system architecture, process management, memory handling, and system-level innovation — built from the ground up with precision and creativity.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297615" y="1367347"/>
            <a:ext cx="5467337" cy="988957"/>
            <a:chOff x="0" y="0"/>
            <a:chExt cx="1457479" cy="2636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23048" y="1712986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754696" y="1693936"/>
            <a:ext cx="4553174" cy="329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2"/>
              </a:lnSpc>
            </a:pPr>
            <a:r>
              <a:rPr lang="en-US" sz="2472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 Tech Titans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39220" y="4469200"/>
            <a:ext cx="2588910" cy="2750502"/>
          </a:xfrm>
          <a:custGeom>
            <a:avLst/>
            <a:gdLst/>
            <a:ahLst/>
            <a:cxnLst/>
            <a:rect l="l" t="t" r="r" b="b"/>
            <a:pathLst>
              <a:path w="2588910" h="2750502">
                <a:moveTo>
                  <a:pt x="0" y="0"/>
                </a:moveTo>
                <a:lnTo>
                  <a:pt x="2588910" y="0"/>
                </a:lnTo>
                <a:lnTo>
                  <a:pt x="2588910" y="2750502"/>
                </a:lnTo>
                <a:lnTo>
                  <a:pt x="0" y="2750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297615" y="1066456"/>
            <a:ext cx="5467337" cy="988957"/>
            <a:chOff x="0" y="0"/>
            <a:chExt cx="1457479" cy="2636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000"/>
                  </a:srgbClr>
                </a:gs>
                <a:gs pos="50000">
                  <a:srgbClr val="F1F1F1">
                    <a:alpha val="5000"/>
                  </a:srgbClr>
                </a:gs>
                <a:gs pos="100000">
                  <a:srgbClr val="F1F1F1">
                    <a:alpha val="5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23048" y="1412096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2"/>
                </a:lnTo>
                <a:lnTo>
                  <a:pt x="0" y="3850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2965365" y="1599850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523048" y="4865090"/>
            <a:ext cx="5520734" cy="4355453"/>
            <a:chOff x="0" y="0"/>
            <a:chExt cx="1772900" cy="13986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2900" cy="1398688"/>
            </a:xfrm>
            <a:custGeom>
              <a:avLst/>
              <a:gdLst/>
              <a:ahLst/>
              <a:cxnLst/>
              <a:rect l="l" t="t" r="r" b="b"/>
              <a:pathLst>
                <a:path w="1772900" h="1398688">
                  <a:moveTo>
                    <a:pt x="70117" y="0"/>
                  </a:moveTo>
                  <a:lnTo>
                    <a:pt x="1702783" y="0"/>
                  </a:lnTo>
                  <a:cubicBezTo>
                    <a:pt x="1721380" y="0"/>
                    <a:pt x="1739214" y="7387"/>
                    <a:pt x="1752364" y="20537"/>
                  </a:cubicBezTo>
                  <a:cubicBezTo>
                    <a:pt x="1765513" y="33686"/>
                    <a:pt x="1772900" y="51521"/>
                    <a:pt x="1772900" y="70117"/>
                  </a:cubicBezTo>
                  <a:lnTo>
                    <a:pt x="1772900" y="1328571"/>
                  </a:lnTo>
                  <a:cubicBezTo>
                    <a:pt x="1772900" y="1367296"/>
                    <a:pt x="1741508" y="1398688"/>
                    <a:pt x="1702783" y="1398688"/>
                  </a:cubicBezTo>
                  <a:lnTo>
                    <a:pt x="70117" y="1398688"/>
                  </a:lnTo>
                  <a:cubicBezTo>
                    <a:pt x="51521" y="1398688"/>
                    <a:pt x="33686" y="1391301"/>
                    <a:pt x="20537" y="1378151"/>
                  </a:cubicBezTo>
                  <a:cubicBezTo>
                    <a:pt x="7387" y="1365002"/>
                    <a:pt x="0" y="1347167"/>
                    <a:pt x="0" y="1328571"/>
                  </a:cubicBezTo>
                  <a:lnTo>
                    <a:pt x="0" y="70117"/>
                  </a:lnTo>
                  <a:cubicBezTo>
                    <a:pt x="0" y="51521"/>
                    <a:pt x="7387" y="33686"/>
                    <a:pt x="20537" y="20537"/>
                  </a:cubicBezTo>
                  <a:cubicBezTo>
                    <a:pt x="33686" y="7387"/>
                    <a:pt x="51521" y="0"/>
                    <a:pt x="70117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772900" cy="1455838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28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94094" y="4865090"/>
            <a:ext cx="5520734" cy="2105366"/>
            <a:chOff x="0" y="0"/>
            <a:chExt cx="1772900" cy="6761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72900" cy="676107"/>
            </a:xfrm>
            <a:custGeom>
              <a:avLst/>
              <a:gdLst/>
              <a:ahLst/>
              <a:cxnLst/>
              <a:rect l="l" t="t" r="r" b="b"/>
              <a:pathLst>
                <a:path w="1772900" h="676107">
                  <a:moveTo>
                    <a:pt x="70117" y="0"/>
                  </a:moveTo>
                  <a:lnTo>
                    <a:pt x="1702783" y="0"/>
                  </a:lnTo>
                  <a:cubicBezTo>
                    <a:pt x="1721380" y="0"/>
                    <a:pt x="1739214" y="7387"/>
                    <a:pt x="1752364" y="20537"/>
                  </a:cubicBezTo>
                  <a:cubicBezTo>
                    <a:pt x="1765513" y="33686"/>
                    <a:pt x="1772900" y="51521"/>
                    <a:pt x="1772900" y="70117"/>
                  </a:cubicBezTo>
                  <a:lnTo>
                    <a:pt x="1772900" y="605990"/>
                  </a:lnTo>
                  <a:cubicBezTo>
                    <a:pt x="1772900" y="644714"/>
                    <a:pt x="1741508" y="676107"/>
                    <a:pt x="1702783" y="676107"/>
                  </a:cubicBezTo>
                  <a:lnTo>
                    <a:pt x="70117" y="676107"/>
                  </a:lnTo>
                  <a:cubicBezTo>
                    <a:pt x="31392" y="676107"/>
                    <a:pt x="0" y="644714"/>
                    <a:pt x="0" y="605990"/>
                  </a:cubicBezTo>
                  <a:lnTo>
                    <a:pt x="0" y="70117"/>
                  </a:lnTo>
                  <a:cubicBezTo>
                    <a:pt x="0" y="51521"/>
                    <a:pt x="7387" y="33686"/>
                    <a:pt x="20537" y="20537"/>
                  </a:cubicBezTo>
                  <a:cubicBezTo>
                    <a:pt x="33686" y="7387"/>
                    <a:pt x="51521" y="0"/>
                    <a:pt x="70117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772900" cy="733257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54247" y="5412001"/>
            <a:ext cx="643505" cy="604670"/>
            <a:chOff x="0" y="0"/>
            <a:chExt cx="865002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974572" y="5313103"/>
            <a:ext cx="643505" cy="604670"/>
            <a:chOff x="0" y="0"/>
            <a:chExt cx="865002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394094" y="7115177"/>
            <a:ext cx="5520734" cy="2105366"/>
            <a:chOff x="0" y="0"/>
            <a:chExt cx="1772900" cy="67610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72900" cy="676107"/>
            </a:xfrm>
            <a:custGeom>
              <a:avLst/>
              <a:gdLst/>
              <a:ahLst/>
              <a:cxnLst/>
              <a:rect l="l" t="t" r="r" b="b"/>
              <a:pathLst>
                <a:path w="1772900" h="676107">
                  <a:moveTo>
                    <a:pt x="70117" y="0"/>
                  </a:moveTo>
                  <a:lnTo>
                    <a:pt x="1702783" y="0"/>
                  </a:lnTo>
                  <a:cubicBezTo>
                    <a:pt x="1721380" y="0"/>
                    <a:pt x="1739214" y="7387"/>
                    <a:pt x="1752364" y="20537"/>
                  </a:cubicBezTo>
                  <a:cubicBezTo>
                    <a:pt x="1765513" y="33686"/>
                    <a:pt x="1772900" y="51521"/>
                    <a:pt x="1772900" y="70117"/>
                  </a:cubicBezTo>
                  <a:lnTo>
                    <a:pt x="1772900" y="605990"/>
                  </a:lnTo>
                  <a:cubicBezTo>
                    <a:pt x="1772900" y="644714"/>
                    <a:pt x="1741508" y="676107"/>
                    <a:pt x="1702783" y="676107"/>
                  </a:cubicBezTo>
                  <a:lnTo>
                    <a:pt x="70117" y="676107"/>
                  </a:lnTo>
                  <a:cubicBezTo>
                    <a:pt x="31392" y="676107"/>
                    <a:pt x="0" y="644714"/>
                    <a:pt x="0" y="605990"/>
                  </a:cubicBezTo>
                  <a:lnTo>
                    <a:pt x="0" y="70117"/>
                  </a:lnTo>
                  <a:cubicBezTo>
                    <a:pt x="0" y="51521"/>
                    <a:pt x="7387" y="33686"/>
                    <a:pt x="20537" y="20537"/>
                  </a:cubicBezTo>
                  <a:cubicBezTo>
                    <a:pt x="33686" y="7387"/>
                    <a:pt x="51521" y="0"/>
                    <a:pt x="70117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772900" cy="733257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974572" y="7456231"/>
            <a:ext cx="643505" cy="604670"/>
            <a:chOff x="0" y="0"/>
            <a:chExt cx="865002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754696" y="1383521"/>
            <a:ext cx="4553174" cy="2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9"/>
              </a:lnSpc>
            </a:pPr>
            <a:r>
              <a:rPr lang="en-US" sz="1699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 Tech Titans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3048" y="2637919"/>
            <a:ext cx="15241903" cy="669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50"/>
              </a:lnSpc>
            </a:pPr>
            <a:r>
              <a:rPr lang="en-US" sz="415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SPARK OS : CORE SYSTEM COMPONENTS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07821" y="5601572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81193" y="5535362"/>
            <a:ext cx="3631390" cy="20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8"/>
              </a:lnSpc>
            </a:pPr>
            <a:r>
              <a:rPr lang="en-US" sz="1498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Kernel Architecture 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54247" y="6447525"/>
            <a:ext cx="4049000" cy="36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95"/>
              </a:lnSpc>
            </a:pPr>
            <a:r>
              <a:rPr lang="en-US" sz="1395" dirty="0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Monolithic kernel design with modular driver support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54247" y="7255465"/>
            <a:ext cx="4381311" cy="36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95"/>
              </a:lnSpc>
            </a:pPr>
            <a:r>
              <a:rPr lang="en-US" sz="1395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Direct hardware-software interface via system calls &amp; interrupts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54247" y="8051867"/>
            <a:ext cx="4458337" cy="36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95"/>
              </a:lnSpc>
            </a:pPr>
            <a:r>
              <a:rPr lang="en-US" sz="1395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Privileged kernel mode vs. user mode separation for security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28146" y="5502673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01519" y="5436463"/>
            <a:ext cx="3224303" cy="20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8"/>
              </a:lnSpc>
            </a:pPr>
            <a:r>
              <a:rPr lang="en-US" sz="1498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 Management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74572" y="6110058"/>
            <a:ext cx="4359778" cy="540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97"/>
              </a:lnSpc>
            </a:pPr>
            <a:r>
              <a:rPr lang="en-US" sz="1397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Round-robin &amp; priority-based CPU scheduling, PCB tracking, inter-process communication via pipes &amp; signals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28146" y="7655327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01519" y="7589117"/>
            <a:ext cx="3532832" cy="20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8"/>
              </a:lnSpc>
            </a:pPr>
            <a:r>
              <a:rPr lang="en-US" sz="1498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Memory Management 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74572" y="8278065"/>
            <a:ext cx="4359778" cy="540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97"/>
              </a:lnSpc>
            </a:pPr>
            <a:r>
              <a:rPr lang="en-US" sz="1397" dirty="0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Paging &amp; segmentation, virtual memory with demand paging, memory protection &amp; dynamic allocation</a:t>
            </a:r>
          </a:p>
        </p:txBody>
      </p:sp>
      <p:sp>
        <p:nvSpPr>
          <p:cNvPr id="39" name="Freeform 39"/>
          <p:cNvSpPr/>
          <p:nvPr/>
        </p:nvSpPr>
        <p:spPr>
          <a:xfrm>
            <a:off x="13576627" y="5955530"/>
            <a:ext cx="6661538" cy="6661538"/>
          </a:xfrm>
          <a:custGeom>
            <a:avLst/>
            <a:gdLst/>
            <a:ahLst/>
            <a:cxnLst/>
            <a:rect l="l" t="t" r="r" b="b"/>
            <a:pathLst>
              <a:path w="6661538" h="6661538">
                <a:moveTo>
                  <a:pt x="0" y="0"/>
                </a:moveTo>
                <a:lnTo>
                  <a:pt x="6661539" y="0"/>
                </a:lnTo>
                <a:lnTo>
                  <a:pt x="6661539" y="6661538"/>
                </a:lnTo>
                <a:lnTo>
                  <a:pt x="0" y="66615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4175502" y="4741795"/>
            <a:ext cx="1184132" cy="1187078"/>
          </a:xfrm>
          <a:custGeom>
            <a:avLst/>
            <a:gdLst/>
            <a:ahLst/>
            <a:cxnLst/>
            <a:rect l="l" t="t" r="r" b="b"/>
            <a:pathLst>
              <a:path w="1184132" h="1187078">
                <a:moveTo>
                  <a:pt x="0" y="0"/>
                </a:moveTo>
                <a:lnTo>
                  <a:pt x="1184132" y="0"/>
                </a:lnTo>
                <a:lnTo>
                  <a:pt x="1184132" y="1187078"/>
                </a:lnTo>
                <a:lnTo>
                  <a:pt x="0" y="11870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8000"/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97615" y="1100978"/>
            <a:ext cx="5467337" cy="988957"/>
            <a:chOff x="0" y="0"/>
            <a:chExt cx="1457479" cy="2636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000"/>
                  </a:srgbClr>
                </a:gs>
                <a:gs pos="50000">
                  <a:srgbClr val="F1F1F1">
                    <a:alpha val="5000"/>
                  </a:srgbClr>
                </a:gs>
                <a:gs pos="100000">
                  <a:srgbClr val="F1F1F1">
                    <a:alpha val="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23048" y="1446617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2965365" y="1643896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1754696" y="1418042"/>
            <a:ext cx="4553174" cy="24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9"/>
              </a:lnSpc>
            </a:pPr>
            <a:r>
              <a:rPr lang="en-US" sz="1699" i="1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Spark OS  |  Process Management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33346" y="2906491"/>
            <a:ext cx="9931606" cy="835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144"/>
              </a:lnSpc>
            </a:pPr>
            <a:r>
              <a:rPr lang="en-US" sz="5144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PROCESS MANAGEMENT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833346" y="4767308"/>
            <a:ext cx="4832029" cy="2127625"/>
            <a:chOff x="0" y="0"/>
            <a:chExt cx="1551733" cy="6832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932923" y="4767308"/>
            <a:ext cx="4832029" cy="2127625"/>
            <a:chOff x="0" y="0"/>
            <a:chExt cx="1551733" cy="6832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1225" y="7058397"/>
            <a:ext cx="4832029" cy="2127625"/>
            <a:chOff x="0" y="0"/>
            <a:chExt cx="1551733" cy="68325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950802" y="7058397"/>
            <a:ext cx="3899188" cy="2127625"/>
            <a:chOff x="0" y="0"/>
            <a:chExt cx="1252165" cy="6832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2165" cy="683255"/>
            </a:xfrm>
            <a:custGeom>
              <a:avLst/>
              <a:gdLst/>
              <a:ahLst/>
              <a:cxnLst/>
              <a:rect l="l" t="t" r="r" b="b"/>
              <a:pathLst>
                <a:path w="1252165" h="683255">
                  <a:moveTo>
                    <a:pt x="81406" y="0"/>
                  </a:moveTo>
                  <a:lnTo>
                    <a:pt x="1170759" y="0"/>
                  </a:lnTo>
                  <a:cubicBezTo>
                    <a:pt x="1192349" y="0"/>
                    <a:pt x="1213055" y="8577"/>
                    <a:pt x="1228322" y="23843"/>
                  </a:cubicBezTo>
                  <a:cubicBezTo>
                    <a:pt x="1243589" y="39110"/>
                    <a:pt x="1252165" y="59816"/>
                    <a:pt x="1252165" y="81406"/>
                  </a:cubicBezTo>
                  <a:lnTo>
                    <a:pt x="1252165" y="601848"/>
                  </a:lnTo>
                  <a:cubicBezTo>
                    <a:pt x="1252165" y="646808"/>
                    <a:pt x="1215718" y="683255"/>
                    <a:pt x="1170759" y="683255"/>
                  </a:cubicBezTo>
                  <a:lnTo>
                    <a:pt x="81406" y="683255"/>
                  </a:lnTo>
                  <a:cubicBezTo>
                    <a:pt x="36447" y="683255"/>
                    <a:pt x="0" y="646808"/>
                    <a:pt x="0" y="601848"/>
                  </a:cubicBezTo>
                  <a:lnTo>
                    <a:pt x="0" y="81406"/>
                  </a:lnTo>
                  <a:cubicBezTo>
                    <a:pt x="0" y="36447"/>
                    <a:pt x="36447" y="0"/>
                    <a:pt x="81406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52165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87128" y="5496715"/>
            <a:ext cx="849262" cy="798010"/>
            <a:chOff x="0" y="0"/>
            <a:chExt cx="865002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448896" y="5392552"/>
            <a:ext cx="2798456" cy="21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33"/>
              </a:lnSpc>
            </a:pPr>
            <a:r>
              <a:rPr lang="en-US" sz="1633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Process Scheduling 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00636" y="5914770"/>
            <a:ext cx="2568222" cy="31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75"/>
              </a:lnSpc>
            </a:pPr>
            <a:r>
              <a:rPr lang="en-US" sz="1275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Round Robin &amp; Priority-Based Algorithms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365475" y="5496715"/>
            <a:ext cx="849262" cy="798010"/>
            <a:chOff x="0" y="0"/>
            <a:chExt cx="865002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09414" y="5252099"/>
            <a:ext cx="2798456" cy="21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33"/>
              </a:lnSpc>
            </a:pPr>
            <a:r>
              <a:rPr lang="en-US" sz="1633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Process States 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9414" y="6052518"/>
            <a:ext cx="2568222" cy="31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75"/>
              </a:lnSpc>
            </a:pPr>
            <a:r>
              <a:rPr lang="en-US" sz="1275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New → Ready → Running → Waiting → Terminated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287128" y="7730854"/>
            <a:ext cx="863930" cy="811792"/>
            <a:chOff x="0" y="0"/>
            <a:chExt cx="865002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3" name="TextBox 33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8448896" y="7566011"/>
            <a:ext cx="1069333" cy="625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2"/>
              </a:lnSpc>
            </a:pPr>
            <a:r>
              <a:rPr lang="en-US" sz="1662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Context Switching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48896" y="8095722"/>
            <a:ext cx="2612579" cy="31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97"/>
              </a:lnSpc>
            </a:pPr>
            <a:r>
              <a:rPr lang="en-US" sz="1297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Saves &amp; Restores CPU State via PCB Snapshots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365475" y="7790019"/>
            <a:ext cx="863930" cy="811792"/>
            <a:chOff x="0" y="0"/>
            <a:chExt cx="865002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509414" y="7625176"/>
            <a:ext cx="1069333" cy="42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2"/>
              </a:lnSpc>
            </a:pPr>
            <a:r>
              <a:rPr lang="en-US" sz="1662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PCB Structure 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509414" y="8154887"/>
            <a:ext cx="2007487" cy="471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97"/>
              </a:lnSpc>
            </a:pPr>
            <a:r>
              <a:rPr lang="en-US" sz="1297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PID, State, PC, Registers, Memory Maps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23048" y="8214965"/>
            <a:ext cx="5032902" cy="1368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15"/>
              </a:lnSpc>
            </a:pPr>
            <a:r>
              <a:rPr lang="en-US" sz="2115" i="1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Spark OS ensures efficient CPU utilization through multi-level scheduling, real-time state transitions, and atomic context switching with full PCB persistence.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43580" y="5788888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629260" y="5782955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43580" y="8023986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629260" y="8097861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46" name="Freeform 46"/>
          <p:cNvSpPr/>
          <p:nvPr/>
        </p:nvSpPr>
        <p:spPr>
          <a:xfrm>
            <a:off x="15411518" y="7341206"/>
            <a:ext cx="1353433" cy="1353433"/>
          </a:xfrm>
          <a:custGeom>
            <a:avLst/>
            <a:gdLst/>
            <a:ahLst/>
            <a:cxnLst/>
            <a:rect l="l" t="t" r="r" b="b"/>
            <a:pathLst>
              <a:path w="1353433" h="1353433">
                <a:moveTo>
                  <a:pt x="0" y="0"/>
                </a:moveTo>
                <a:lnTo>
                  <a:pt x="1353434" y="0"/>
                </a:lnTo>
                <a:lnTo>
                  <a:pt x="1353434" y="1353433"/>
                </a:lnTo>
                <a:lnTo>
                  <a:pt x="0" y="13534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-2039730" y="2112311"/>
            <a:ext cx="5204175" cy="5312919"/>
          </a:xfrm>
          <a:custGeom>
            <a:avLst/>
            <a:gdLst/>
            <a:ahLst/>
            <a:cxnLst/>
            <a:rect l="l" t="t" r="r" b="b"/>
            <a:pathLst>
              <a:path w="5204175" h="5312919">
                <a:moveTo>
                  <a:pt x="0" y="0"/>
                </a:moveTo>
                <a:lnTo>
                  <a:pt x="5204175" y="0"/>
                </a:lnTo>
                <a:lnTo>
                  <a:pt x="5204175" y="5312920"/>
                </a:lnTo>
                <a:lnTo>
                  <a:pt x="0" y="53129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395306" y="3052725"/>
            <a:ext cx="4350633" cy="4362344"/>
          </a:xfrm>
          <a:custGeom>
            <a:avLst/>
            <a:gdLst/>
            <a:ahLst/>
            <a:cxnLst/>
            <a:rect l="l" t="t" r="r" b="b"/>
            <a:pathLst>
              <a:path w="4350633" h="4362344">
                <a:moveTo>
                  <a:pt x="0" y="0"/>
                </a:moveTo>
                <a:lnTo>
                  <a:pt x="4350633" y="0"/>
                </a:lnTo>
                <a:lnTo>
                  <a:pt x="4350633" y="4362344"/>
                </a:lnTo>
                <a:lnTo>
                  <a:pt x="0" y="43623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8000"/>
            </a:blip>
            <a:stretch>
              <a:fillRect/>
            </a:stretch>
          </a:blipFill>
        </p:spPr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97615" y="1100978"/>
            <a:ext cx="5467337" cy="988957"/>
            <a:chOff x="0" y="0"/>
            <a:chExt cx="1457479" cy="2636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000"/>
                  </a:srgbClr>
                </a:gs>
                <a:gs pos="50000">
                  <a:srgbClr val="F1F1F1">
                    <a:alpha val="5000"/>
                  </a:srgbClr>
                </a:gs>
                <a:gs pos="100000">
                  <a:srgbClr val="F1F1F1">
                    <a:alpha val="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23048" y="1446617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2965365" y="1643896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1754696" y="1418042"/>
            <a:ext cx="4553174" cy="24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9"/>
              </a:lnSpc>
            </a:pPr>
            <a:r>
              <a:rPr lang="en-US" sz="1699" i="1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Spark OS — Memory Management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33346" y="2935066"/>
            <a:ext cx="9931606" cy="451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91"/>
              </a:lnSpc>
            </a:pPr>
            <a:r>
              <a:rPr lang="en-US" sz="2791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MEMORY MANAGEMENT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833346" y="4767308"/>
            <a:ext cx="4832029" cy="2127625"/>
            <a:chOff x="0" y="0"/>
            <a:chExt cx="1551733" cy="6832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932923" y="4767308"/>
            <a:ext cx="4832029" cy="2127625"/>
            <a:chOff x="0" y="0"/>
            <a:chExt cx="1551733" cy="6832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1225" y="7058397"/>
            <a:ext cx="4832029" cy="2127625"/>
            <a:chOff x="0" y="0"/>
            <a:chExt cx="1551733" cy="68325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950802" y="7058397"/>
            <a:ext cx="3899188" cy="2127625"/>
            <a:chOff x="0" y="0"/>
            <a:chExt cx="1252165" cy="6832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2165" cy="683255"/>
            </a:xfrm>
            <a:custGeom>
              <a:avLst/>
              <a:gdLst/>
              <a:ahLst/>
              <a:cxnLst/>
              <a:rect l="l" t="t" r="r" b="b"/>
              <a:pathLst>
                <a:path w="1252165" h="683255">
                  <a:moveTo>
                    <a:pt x="81406" y="0"/>
                  </a:moveTo>
                  <a:lnTo>
                    <a:pt x="1170759" y="0"/>
                  </a:lnTo>
                  <a:cubicBezTo>
                    <a:pt x="1192349" y="0"/>
                    <a:pt x="1213055" y="8577"/>
                    <a:pt x="1228322" y="23843"/>
                  </a:cubicBezTo>
                  <a:cubicBezTo>
                    <a:pt x="1243589" y="39110"/>
                    <a:pt x="1252165" y="59816"/>
                    <a:pt x="1252165" y="81406"/>
                  </a:cubicBezTo>
                  <a:lnTo>
                    <a:pt x="1252165" y="601848"/>
                  </a:lnTo>
                  <a:cubicBezTo>
                    <a:pt x="1252165" y="646808"/>
                    <a:pt x="1215718" y="683255"/>
                    <a:pt x="1170759" y="683255"/>
                  </a:cubicBezTo>
                  <a:lnTo>
                    <a:pt x="81406" y="683255"/>
                  </a:lnTo>
                  <a:cubicBezTo>
                    <a:pt x="36447" y="683255"/>
                    <a:pt x="0" y="646808"/>
                    <a:pt x="0" y="601848"/>
                  </a:cubicBezTo>
                  <a:lnTo>
                    <a:pt x="0" y="81406"/>
                  </a:lnTo>
                  <a:cubicBezTo>
                    <a:pt x="0" y="36447"/>
                    <a:pt x="36447" y="0"/>
                    <a:pt x="81406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52165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87128" y="5496715"/>
            <a:ext cx="849262" cy="798010"/>
            <a:chOff x="0" y="0"/>
            <a:chExt cx="865002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448896" y="5392552"/>
            <a:ext cx="2798456" cy="21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33"/>
              </a:lnSpc>
            </a:pPr>
            <a:r>
              <a:rPr lang="en-US" sz="1633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Virtual Memory 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00636" y="5914770"/>
            <a:ext cx="2568222" cy="611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9"/>
              </a:lnSpc>
            </a:pPr>
            <a:r>
              <a:rPr lang="en-US" sz="1199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Extends RAM using disk swap space; enables large process execution beyond physical limits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365475" y="5496715"/>
            <a:ext cx="849262" cy="798010"/>
            <a:chOff x="0" y="0"/>
            <a:chExt cx="865002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09414" y="5252099"/>
            <a:ext cx="2798456" cy="21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33"/>
              </a:lnSpc>
            </a:pPr>
            <a:r>
              <a:rPr lang="en-US" sz="1633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Paging System 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9414" y="6052518"/>
            <a:ext cx="2568222" cy="611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9"/>
              </a:lnSpc>
            </a:pPr>
            <a:r>
              <a:rPr lang="en-US" sz="1199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Divides memory into fixed-size frames; eliminates fragmentation &amp; maps virtual to physical pages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287128" y="7730854"/>
            <a:ext cx="863930" cy="811792"/>
            <a:chOff x="0" y="0"/>
            <a:chExt cx="865002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3" name="TextBox 33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8448896" y="7566011"/>
            <a:ext cx="1069333" cy="42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2"/>
              </a:lnSpc>
            </a:pPr>
            <a:r>
              <a:rPr lang="en-US" sz="1662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Allocation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48896" y="8086197"/>
            <a:ext cx="2612579" cy="63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20"/>
              </a:lnSpc>
            </a:pPr>
            <a:r>
              <a:rPr lang="en-US" sz="1220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First Fit, Best Fit &amp; Worst Fit algorithms dynamically assign free memory blocks to processes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365475" y="7790019"/>
            <a:ext cx="863930" cy="811792"/>
            <a:chOff x="0" y="0"/>
            <a:chExt cx="865002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509414" y="7625176"/>
            <a:ext cx="1069333" cy="42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2"/>
              </a:lnSpc>
            </a:pPr>
            <a:r>
              <a:rPr lang="en-US" sz="1662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Protection 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509414" y="8145362"/>
            <a:ext cx="2007487" cy="63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20"/>
              </a:lnSpc>
            </a:pPr>
            <a:r>
              <a:rPr lang="en-US" sz="1220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Isolates process address spaces; prevents unauthorized cross-process memory access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23048" y="8214965"/>
            <a:ext cx="5032902" cy="834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15"/>
              </a:lnSpc>
            </a:pPr>
            <a:r>
              <a:rPr lang="en-US" sz="2115" i="1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Core Technique : Demand Paging, Page Tables, Segmentation &amp; Memory-Mapped I/O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43580" y="5788888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629260" y="5782955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43580" y="8023986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629260" y="8097861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46" name="Freeform 46"/>
          <p:cNvSpPr/>
          <p:nvPr/>
        </p:nvSpPr>
        <p:spPr>
          <a:xfrm>
            <a:off x="15411518" y="7341206"/>
            <a:ext cx="1353433" cy="1353433"/>
          </a:xfrm>
          <a:custGeom>
            <a:avLst/>
            <a:gdLst/>
            <a:ahLst/>
            <a:cxnLst/>
            <a:rect l="l" t="t" r="r" b="b"/>
            <a:pathLst>
              <a:path w="1353433" h="1353433">
                <a:moveTo>
                  <a:pt x="0" y="0"/>
                </a:moveTo>
                <a:lnTo>
                  <a:pt x="1353434" y="0"/>
                </a:lnTo>
                <a:lnTo>
                  <a:pt x="1353434" y="1353433"/>
                </a:lnTo>
                <a:lnTo>
                  <a:pt x="0" y="13534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-2022752" y="2182741"/>
            <a:ext cx="5159709" cy="5187650"/>
          </a:xfrm>
          <a:custGeom>
            <a:avLst/>
            <a:gdLst/>
            <a:ahLst/>
            <a:cxnLst/>
            <a:rect l="l" t="t" r="r" b="b"/>
            <a:pathLst>
              <a:path w="5159709" h="5187650">
                <a:moveTo>
                  <a:pt x="0" y="0"/>
                </a:moveTo>
                <a:lnTo>
                  <a:pt x="5159709" y="0"/>
                </a:lnTo>
                <a:lnTo>
                  <a:pt x="5159709" y="5187650"/>
                </a:lnTo>
                <a:lnTo>
                  <a:pt x="0" y="5187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394336" y="3053387"/>
            <a:ext cx="4346429" cy="4364073"/>
          </a:xfrm>
          <a:custGeom>
            <a:avLst/>
            <a:gdLst/>
            <a:ahLst/>
            <a:cxnLst/>
            <a:rect l="l" t="t" r="r" b="b"/>
            <a:pathLst>
              <a:path w="4346429" h="4364073">
                <a:moveTo>
                  <a:pt x="0" y="0"/>
                </a:moveTo>
                <a:lnTo>
                  <a:pt x="4346429" y="0"/>
                </a:lnTo>
                <a:lnTo>
                  <a:pt x="4346429" y="4364073"/>
                </a:lnTo>
                <a:lnTo>
                  <a:pt x="0" y="43640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8000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97615" y="1100978"/>
            <a:ext cx="5467337" cy="988957"/>
            <a:chOff x="0" y="0"/>
            <a:chExt cx="1457479" cy="2636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000"/>
                  </a:srgbClr>
                </a:gs>
                <a:gs pos="50000">
                  <a:srgbClr val="F1F1F1">
                    <a:alpha val="5000"/>
                  </a:srgbClr>
                </a:gs>
                <a:gs pos="100000">
                  <a:srgbClr val="F1F1F1">
                    <a:alpha val="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23048" y="1446617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2965365" y="1643896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1754696" y="1418042"/>
            <a:ext cx="4553174" cy="24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9"/>
              </a:lnSpc>
            </a:pPr>
            <a:r>
              <a:rPr lang="en-US" sz="1699" i="1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Spark OS — File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33346" y="2887441"/>
            <a:ext cx="9931606" cy="1288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990"/>
              </a:lnSpc>
            </a:pPr>
            <a:r>
              <a:rPr lang="en-US" sz="799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FILE SYSTEM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833346" y="4767308"/>
            <a:ext cx="4832029" cy="2127625"/>
            <a:chOff x="0" y="0"/>
            <a:chExt cx="1551733" cy="6832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932923" y="4767308"/>
            <a:ext cx="4832029" cy="2127625"/>
            <a:chOff x="0" y="0"/>
            <a:chExt cx="1551733" cy="6832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1225" y="7058397"/>
            <a:ext cx="4832029" cy="2127625"/>
            <a:chOff x="0" y="0"/>
            <a:chExt cx="1551733" cy="68325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950802" y="7058397"/>
            <a:ext cx="3899188" cy="2127625"/>
            <a:chOff x="0" y="0"/>
            <a:chExt cx="1252165" cy="6832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2165" cy="683255"/>
            </a:xfrm>
            <a:custGeom>
              <a:avLst/>
              <a:gdLst/>
              <a:ahLst/>
              <a:cxnLst/>
              <a:rect l="l" t="t" r="r" b="b"/>
              <a:pathLst>
                <a:path w="1252165" h="683255">
                  <a:moveTo>
                    <a:pt x="81406" y="0"/>
                  </a:moveTo>
                  <a:lnTo>
                    <a:pt x="1170759" y="0"/>
                  </a:lnTo>
                  <a:cubicBezTo>
                    <a:pt x="1192349" y="0"/>
                    <a:pt x="1213055" y="8577"/>
                    <a:pt x="1228322" y="23843"/>
                  </a:cubicBezTo>
                  <a:cubicBezTo>
                    <a:pt x="1243589" y="39110"/>
                    <a:pt x="1252165" y="59816"/>
                    <a:pt x="1252165" y="81406"/>
                  </a:cubicBezTo>
                  <a:lnTo>
                    <a:pt x="1252165" y="601848"/>
                  </a:lnTo>
                  <a:cubicBezTo>
                    <a:pt x="1252165" y="646808"/>
                    <a:pt x="1215718" y="683255"/>
                    <a:pt x="1170759" y="683255"/>
                  </a:cubicBezTo>
                  <a:lnTo>
                    <a:pt x="81406" y="683255"/>
                  </a:lnTo>
                  <a:cubicBezTo>
                    <a:pt x="36447" y="683255"/>
                    <a:pt x="0" y="646808"/>
                    <a:pt x="0" y="601848"/>
                  </a:cubicBezTo>
                  <a:lnTo>
                    <a:pt x="0" y="81406"/>
                  </a:lnTo>
                  <a:cubicBezTo>
                    <a:pt x="0" y="36447"/>
                    <a:pt x="36447" y="0"/>
                    <a:pt x="81406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52165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87128" y="5496715"/>
            <a:ext cx="849262" cy="798010"/>
            <a:chOff x="0" y="0"/>
            <a:chExt cx="865002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448896" y="5392552"/>
            <a:ext cx="2798456" cy="21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33"/>
              </a:lnSpc>
            </a:pPr>
            <a:r>
              <a:rPr lang="en-US" sz="1633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File Organization 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00636" y="5914770"/>
            <a:ext cx="2568222" cy="25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9"/>
              </a:lnSpc>
            </a:pPr>
            <a:r>
              <a:rPr lang="en-US" sz="1869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Hierarchical Dirs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365475" y="5496715"/>
            <a:ext cx="849262" cy="798010"/>
            <a:chOff x="0" y="0"/>
            <a:chExt cx="865002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09414" y="5252099"/>
            <a:ext cx="2798456" cy="21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33"/>
              </a:lnSpc>
            </a:pPr>
            <a:r>
              <a:rPr lang="en-US" sz="1633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File Operations 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9414" y="6052518"/>
            <a:ext cx="2568222" cy="47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9"/>
              </a:lnSpc>
            </a:pPr>
            <a:r>
              <a:rPr lang="en-US" sz="1869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Create, Read, Write, Delete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287128" y="7730854"/>
            <a:ext cx="863930" cy="811792"/>
            <a:chOff x="0" y="0"/>
            <a:chExt cx="865002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3" name="TextBox 33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8448896" y="7566011"/>
            <a:ext cx="1069333" cy="42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2"/>
              </a:lnSpc>
            </a:pPr>
            <a:r>
              <a:rPr lang="en-US" sz="1662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Allocation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48896" y="8086197"/>
            <a:ext cx="2612579" cy="496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01"/>
              </a:lnSpc>
            </a:pPr>
            <a:r>
              <a:rPr lang="en-US" sz="1901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Contiguous, Linked, Indexed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365475" y="7790019"/>
            <a:ext cx="863930" cy="811792"/>
            <a:chOff x="0" y="0"/>
            <a:chExt cx="865002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509414" y="7625176"/>
            <a:ext cx="1069333" cy="42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2"/>
              </a:lnSpc>
            </a:pPr>
            <a:r>
              <a:rPr lang="en-US" sz="1662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Access Control 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509414" y="8145362"/>
            <a:ext cx="2007487" cy="496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01"/>
              </a:lnSpc>
            </a:pPr>
            <a:r>
              <a:rPr lang="en-US" sz="1901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Permissions &amp; Security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23048" y="8214965"/>
            <a:ext cx="5032902" cy="1368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15"/>
              </a:lnSpc>
            </a:pPr>
            <a:r>
              <a:rPr lang="en-US" sz="2115" i="1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Spark OS uses a tree-based hierarchical file system with full CRUD operations, multiple allocation strategies, and role-based access control.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43580" y="5788888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629260" y="5782955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43580" y="8023986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629260" y="8097861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46" name="Freeform 46"/>
          <p:cNvSpPr/>
          <p:nvPr/>
        </p:nvSpPr>
        <p:spPr>
          <a:xfrm>
            <a:off x="15411518" y="7341206"/>
            <a:ext cx="1353433" cy="1353433"/>
          </a:xfrm>
          <a:custGeom>
            <a:avLst/>
            <a:gdLst/>
            <a:ahLst/>
            <a:cxnLst/>
            <a:rect l="l" t="t" r="r" b="b"/>
            <a:pathLst>
              <a:path w="1353433" h="1353433">
                <a:moveTo>
                  <a:pt x="0" y="0"/>
                </a:moveTo>
                <a:lnTo>
                  <a:pt x="1353434" y="0"/>
                </a:lnTo>
                <a:lnTo>
                  <a:pt x="1353434" y="1353433"/>
                </a:lnTo>
                <a:lnTo>
                  <a:pt x="0" y="13534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-1869506" y="2345708"/>
            <a:ext cx="4834871" cy="4834871"/>
          </a:xfrm>
          <a:custGeom>
            <a:avLst/>
            <a:gdLst/>
            <a:ahLst/>
            <a:cxnLst/>
            <a:rect l="l" t="t" r="r" b="b"/>
            <a:pathLst>
              <a:path w="4834871" h="4834871">
                <a:moveTo>
                  <a:pt x="0" y="0"/>
                </a:moveTo>
                <a:lnTo>
                  <a:pt x="4834871" y="0"/>
                </a:lnTo>
                <a:lnTo>
                  <a:pt x="4834871" y="4834871"/>
                </a:lnTo>
                <a:lnTo>
                  <a:pt x="0" y="4834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523048" y="3192146"/>
            <a:ext cx="4074158" cy="4074158"/>
          </a:xfrm>
          <a:custGeom>
            <a:avLst/>
            <a:gdLst/>
            <a:ahLst/>
            <a:cxnLst/>
            <a:rect l="l" t="t" r="r" b="b"/>
            <a:pathLst>
              <a:path w="4074158" h="4074158">
                <a:moveTo>
                  <a:pt x="0" y="0"/>
                </a:moveTo>
                <a:lnTo>
                  <a:pt x="4074159" y="0"/>
                </a:lnTo>
                <a:lnTo>
                  <a:pt x="4074159" y="4074158"/>
                </a:lnTo>
                <a:lnTo>
                  <a:pt x="0" y="4074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88394" y="4596940"/>
            <a:ext cx="3274915" cy="2544756"/>
          </a:xfrm>
          <a:custGeom>
            <a:avLst/>
            <a:gdLst/>
            <a:ahLst/>
            <a:cxnLst/>
            <a:rect l="l" t="t" r="r" b="b"/>
            <a:pathLst>
              <a:path w="3274915" h="2544756">
                <a:moveTo>
                  <a:pt x="0" y="0"/>
                </a:moveTo>
                <a:lnTo>
                  <a:pt x="3274915" y="0"/>
                </a:lnTo>
                <a:lnTo>
                  <a:pt x="3274915" y="2544756"/>
                </a:lnTo>
                <a:lnTo>
                  <a:pt x="0" y="2544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297615" y="1066456"/>
            <a:ext cx="5467337" cy="988957"/>
            <a:chOff x="0" y="0"/>
            <a:chExt cx="1457479" cy="2636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000"/>
                  </a:srgbClr>
                </a:gs>
                <a:gs pos="50000">
                  <a:srgbClr val="F1F1F1">
                    <a:alpha val="5000"/>
                  </a:srgbClr>
                </a:gs>
                <a:gs pos="100000">
                  <a:srgbClr val="F1F1F1">
                    <a:alpha val="5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23048" y="1412096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2"/>
                </a:lnTo>
                <a:lnTo>
                  <a:pt x="0" y="3850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2965365" y="1599850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523048" y="4865090"/>
            <a:ext cx="5520734" cy="4355453"/>
            <a:chOff x="0" y="0"/>
            <a:chExt cx="1772900" cy="13986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2900" cy="1398688"/>
            </a:xfrm>
            <a:custGeom>
              <a:avLst/>
              <a:gdLst/>
              <a:ahLst/>
              <a:cxnLst/>
              <a:rect l="l" t="t" r="r" b="b"/>
              <a:pathLst>
                <a:path w="1772900" h="1398688">
                  <a:moveTo>
                    <a:pt x="70117" y="0"/>
                  </a:moveTo>
                  <a:lnTo>
                    <a:pt x="1702783" y="0"/>
                  </a:lnTo>
                  <a:cubicBezTo>
                    <a:pt x="1721380" y="0"/>
                    <a:pt x="1739214" y="7387"/>
                    <a:pt x="1752364" y="20537"/>
                  </a:cubicBezTo>
                  <a:cubicBezTo>
                    <a:pt x="1765513" y="33686"/>
                    <a:pt x="1772900" y="51521"/>
                    <a:pt x="1772900" y="70117"/>
                  </a:cubicBezTo>
                  <a:lnTo>
                    <a:pt x="1772900" y="1328571"/>
                  </a:lnTo>
                  <a:cubicBezTo>
                    <a:pt x="1772900" y="1367296"/>
                    <a:pt x="1741508" y="1398688"/>
                    <a:pt x="1702783" y="1398688"/>
                  </a:cubicBezTo>
                  <a:lnTo>
                    <a:pt x="70117" y="1398688"/>
                  </a:lnTo>
                  <a:cubicBezTo>
                    <a:pt x="51521" y="1398688"/>
                    <a:pt x="33686" y="1391301"/>
                    <a:pt x="20537" y="1378151"/>
                  </a:cubicBezTo>
                  <a:cubicBezTo>
                    <a:pt x="7387" y="1365002"/>
                    <a:pt x="0" y="1347167"/>
                    <a:pt x="0" y="1328571"/>
                  </a:cubicBezTo>
                  <a:lnTo>
                    <a:pt x="0" y="70117"/>
                  </a:lnTo>
                  <a:cubicBezTo>
                    <a:pt x="0" y="51521"/>
                    <a:pt x="7387" y="33686"/>
                    <a:pt x="20537" y="20537"/>
                  </a:cubicBezTo>
                  <a:cubicBezTo>
                    <a:pt x="33686" y="7387"/>
                    <a:pt x="51521" y="0"/>
                    <a:pt x="70117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772900" cy="1455838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94094" y="4865090"/>
            <a:ext cx="5520734" cy="2105366"/>
            <a:chOff x="0" y="0"/>
            <a:chExt cx="1772900" cy="6761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72900" cy="676107"/>
            </a:xfrm>
            <a:custGeom>
              <a:avLst/>
              <a:gdLst/>
              <a:ahLst/>
              <a:cxnLst/>
              <a:rect l="l" t="t" r="r" b="b"/>
              <a:pathLst>
                <a:path w="1772900" h="676107">
                  <a:moveTo>
                    <a:pt x="70117" y="0"/>
                  </a:moveTo>
                  <a:lnTo>
                    <a:pt x="1702783" y="0"/>
                  </a:lnTo>
                  <a:cubicBezTo>
                    <a:pt x="1721380" y="0"/>
                    <a:pt x="1739214" y="7387"/>
                    <a:pt x="1752364" y="20537"/>
                  </a:cubicBezTo>
                  <a:cubicBezTo>
                    <a:pt x="1765513" y="33686"/>
                    <a:pt x="1772900" y="51521"/>
                    <a:pt x="1772900" y="70117"/>
                  </a:cubicBezTo>
                  <a:lnTo>
                    <a:pt x="1772900" y="605990"/>
                  </a:lnTo>
                  <a:cubicBezTo>
                    <a:pt x="1772900" y="644714"/>
                    <a:pt x="1741508" y="676107"/>
                    <a:pt x="1702783" y="676107"/>
                  </a:cubicBezTo>
                  <a:lnTo>
                    <a:pt x="70117" y="676107"/>
                  </a:lnTo>
                  <a:cubicBezTo>
                    <a:pt x="31392" y="676107"/>
                    <a:pt x="0" y="644714"/>
                    <a:pt x="0" y="605990"/>
                  </a:cubicBezTo>
                  <a:lnTo>
                    <a:pt x="0" y="70117"/>
                  </a:lnTo>
                  <a:cubicBezTo>
                    <a:pt x="0" y="51521"/>
                    <a:pt x="7387" y="33686"/>
                    <a:pt x="20537" y="20537"/>
                  </a:cubicBezTo>
                  <a:cubicBezTo>
                    <a:pt x="33686" y="7387"/>
                    <a:pt x="51521" y="0"/>
                    <a:pt x="70117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772900" cy="733257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54247" y="5412001"/>
            <a:ext cx="643505" cy="604670"/>
            <a:chOff x="0" y="0"/>
            <a:chExt cx="865002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974572" y="5313103"/>
            <a:ext cx="643505" cy="604670"/>
            <a:chOff x="0" y="0"/>
            <a:chExt cx="865002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394094" y="7115177"/>
            <a:ext cx="5520734" cy="2105366"/>
            <a:chOff x="0" y="0"/>
            <a:chExt cx="1772900" cy="67610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72900" cy="676107"/>
            </a:xfrm>
            <a:custGeom>
              <a:avLst/>
              <a:gdLst/>
              <a:ahLst/>
              <a:cxnLst/>
              <a:rect l="l" t="t" r="r" b="b"/>
              <a:pathLst>
                <a:path w="1772900" h="676107">
                  <a:moveTo>
                    <a:pt x="70117" y="0"/>
                  </a:moveTo>
                  <a:lnTo>
                    <a:pt x="1702783" y="0"/>
                  </a:lnTo>
                  <a:cubicBezTo>
                    <a:pt x="1721380" y="0"/>
                    <a:pt x="1739214" y="7387"/>
                    <a:pt x="1752364" y="20537"/>
                  </a:cubicBezTo>
                  <a:cubicBezTo>
                    <a:pt x="1765513" y="33686"/>
                    <a:pt x="1772900" y="51521"/>
                    <a:pt x="1772900" y="70117"/>
                  </a:cubicBezTo>
                  <a:lnTo>
                    <a:pt x="1772900" y="605990"/>
                  </a:lnTo>
                  <a:cubicBezTo>
                    <a:pt x="1772900" y="644714"/>
                    <a:pt x="1741508" y="676107"/>
                    <a:pt x="1702783" y="676107"/>
                  </a:cubicBezTo>
                  <a:lnTo>
                    <a:pt x="70117" y="676107"/>
                  </a:lnTo>
                  <a:cubicBezTo>
                    <a:pt x="31392" y="676107"/>
                    <a:pt x="0" y="644714"/>
                    <a:pt x="0" y="605990"/>
                  </a:cubicBezTo>
                  <a:lnTo>
                    <a:pt x="0" y="70117"/>
                  </a:lnTo>
                  <a:cubicBezTo>
                    <a:pt x="0" y="51521"/>
                    <a:pt x="7387" y="33686"/>
                    <a:pt x="20537" y="20537"/>
                  </a:cubicBezTo>
                  <a:cubicBezTo>
                    <a:pt x="33686" y="7387"/>
                    <a:pt x="51521" y="0"/>
                    <a:pt x="70117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772900" cy="733257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974572" y="7456231"/>
            <a:ext cx="643505" cy="604670"/>
            <a:chOff x="0" y="0"/>
            <a:chExt cx="865002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754696" y="1393046"/>
            <a:ext cx="4553174" cy="23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60"/>
              </a:lnSpc>
            </a:pPr>
            <a:r>
              <a:rPr lang="en-US" sz="1760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:Tech Titans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3048" y="2628394"/>
            <a:ext cx="15241903" cy="697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08"/>
              </a:lnSpc>
            </a:pPr>
            <a:r>
              <a:rPr lang="en-US" sz="4308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CPU SCHEDULING ALGORITHMS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07821" y="5601572"/>
            <a:ext cx="336358" cy="165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42"/>
              </a:lnSpc>
            </a:pPr>
            <a:r>
              <a:rPr lang="en-US" sz="124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81193" y="5535362"/>
            <a:ext cx="3631390" cy="21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2"/>
              </a:lnSpc>
            </a:pPr>
            <a:r>
              <a:rPr lang="en-US" sz="1552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FCFS Scheduling 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54247" y="6457050"/>
            <a:ext cx="4049000" cy="37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8"/>
              </a:lnSpc>
            </a:pPr>
            <a:r>
              <a:rPr lang="en-US" sz="1448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First Come First Serve — processes executed in arrival order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54247" y="7264990"/>
            <a:ext cx="4381311" cy="37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8"/>
              </a:lnSpc>
            </a:pPr>
            <a:r>
              <a:rPr lang="en-US" sz="1448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Simple queue-based approach; no preemption, easy to implement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54247" y="8061392"/>
            <a:ext cx="4458337" cy="37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8"/>
              </a:lnSpc>
            </a:pPr>
            <a:r>
              <a:rPr lang="en-US" sz="1448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Drawback: Convoy effect — long jobs block shorter ones behind them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28146" y="5502673"/>
            <a:ext cx="336358" cy="165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42"/>
              </a:lnSpc>
            </a:pPr>
            <a:r>
              <a:rPr lang="en-US" sz="124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01519" y="5436463"/>
            <a:ext cx="3224303" cy="21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2"/>
              </a:lnSpc>
            </a:pPr>
            <a:r>
              <a:rPr lang="en-US" sz="1552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SJF Scheduling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74572" y="6119583"/>
            <a:ext cx="4359778" cy="37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1"/>
              </a:lnSpc>
            </a:pPr>
            <a:r>
              <a:rPr lang="en-US" sz="1451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Shortest Job First — minimizes average waiting time; selects process with least burst time next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28146" y="7655327"/>
            <a:ext cx="336358" cy="165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42"/>
              </a:lnSpc>
            </a:pPr>
            <a:r>
              <a:rPr lang="en-US" sz="124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01519" y="7589117"/>
            <a:ext cx="3532832" cy="21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2"/>
              </a:lnSpc>
            </a:pPr>
            <a:r>
              <a:rPr lang="en-US" sz="1552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Round Robin 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74572" y="8287590"/>
            <a:ext cx="4359778" cy="37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1"/>
              </a:lnSpc>
            </a:pPr>
            <a:r>
              <a:rPr lang="en-US" sz="1451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Time quantum-based fair scheduling; each process gets equal CPU slice for multitasking</a:t>
            </a:r>
          </a:p>
        </p:txBody>
      </p:sp>
      <p:sp>
        <p:nvSpPr>
          <p:cNvPr id="39" name="Freeform 39"/>
          <p:cNvSpPr/>
          <p:nvPr/>
        </p:nvSpPr>
        <p:spPr>
          <a:xfrm>
            <a:off x="13390714" y="5713753"/>
            <a:ext cx="7069409" cy="7160043"/>
          </a:xfrm>
          <a:custGeom>
            <a:avLst/>
            <a:gdLst/>
            <a:ahLst/>
            <a:cxnLst/>
            <a:rect l="l" t="t" r="r" b="b"/>
            <a:pathLst>
              <a:path w="7069409" h="7160043">
                <a:moveTo>
                  <a:pt x="0" y="0"/>
                </a:moveTo>
                <a:lnTo>
                  <a:pt x="7069410" y="0"/>
                </a:lnTo>
                <a:lnTo>
                  <a:pt x="7069410" y="7160043"/>
                </a:lnTo>
                <a:lnTo>
                  <a:pt x="0" y="71600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8000"/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4171534" y="4737908"/>
            <a:ext cx="1193220" cy="1193220"/>
          </a:xfrm>
          <a:custGeom>
            <a:avLst/>
            <a:gdLst/>
            <a:ahLst/>
            <a:cxnLst/>
            <a:rect l="l" t="t" r="r" b="b"/>
            <a:pathLst>
              <a:path w="1193220" h="1193220">
                <a:moveTo>
                  <a:pt x="0" y="0"/>
                </a:moveTo>
                <a:lnTo>
                  <a:pt x="1193220" y="0"/>
                </a:lnTo>
                <a:lnTo>
                  <a:pt x="1193220" y="1193220"/>
                </a:lnTo>
                <a:lnTo>
                  <a:pt x="0" y="1193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8000"/>
            </a:blip>
            <a:stretch>
              <a:fillRect/>
            </a:stretch>
          </a:blipFill>
        </p:spPr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97615" y="1100978"/>
            <a:ext cx="5467337" cy="988957"/>
            <a:chOff x="0" y="0"/>
            <a:chExt cx="1457479" cy="2636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000"/>
                  </a:srgbClr>
                </a:gs>
                <a:gs pos="50000">
                  <a:srgbClr val="F1F1F1">
                    <a:alpha val="5000"/>
                  </a:srgbClr>
                </a:gs>
                <a:gs pos="100000">
                  <a:srgbClr val="F1F1F1">
                    <a:alpha val="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23048" y="1446617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2965365" y="1643896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1754696" y="1427567"/>
            <a:ext cx="4553174" cy="24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1"/>
              </a:lnSpc>
            </a:pPr>
            <a:r>
              <a:rPr lang="en-US" sz="1811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</a:t>
            </a:r>
            <a:r>
              <a:rPr lang="en-US" sz="2000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Tech Titans </a:t>
            </a:r>
            <a:endParaRPr lang="en-US" sz="1811" i="1" dirty="0">
              <a:solidFill>
                <a:srgbClr val="A2A2A2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833346" y="2887441"/>
            <a:ext cx="9931606" cy="1288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990"/>
              </a:lnSpc>
            </a:pPr>
            <a:r>
              <a:rPr lang="en-US" sz="799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SYSTEM CALLS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833346" y="4767308"/>
            <a:ext cx="4832029" cy="2127625"/>
            <a:chOff x="0" y="0"/>
            <a:chExt cx="1551733" cy="6832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932923" y="4767308"/>
            <a:ext cx="4832029" cy="2127625"/>
            <a:chOff x="0" y="0"/>
            <a:chExt cx="1551733" cy="6832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1225" y="7058397"/>
            <a:ext cx="4832029" cy="2127625"/>
            <a:chOff x="0" y="0"/>
            <a:chExt cx="1551733" cy="68325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950802" y="7058397"/>
            <a:ext cx="3899188" cy="2127625"/>
            <a:chOff x="0" y="0"/>
            <a:chExt cx="1252165" cy="6832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2165" cy="683255"/>
            </a:xfrm>
            <a:custGeom>
              <a:avLst/>
              <a:gdLst/>
              <a:ahLst/>
              <a:cxnLst/>
              <a:rect l="l" t="t" r="r" b="b"/>
              <a:pathLst>
                <a:path w="1252165" h="683255">
                  <a:moveTo>
                    <a:pt x="81406" y="0"/>
                  </a:moveTo>
                  <a:lnTo>
                    <a:pt x="1170759" y="0"/>
                  </a:lnTo>
                  <a:cubicBezTo>
                    <a:pt x="1192349" y="0"/>
                    <a:pt x="1213055" y="8577"/>
                    <a:pt x="1228322" y="23843"/>
                  </a:cubicBezTo>
                  <a:cubicBezTo>
                    <a:pt x="1243589" y="39110"/>
                    <a:pt x="1252165" y="59816"/>
                    <a:pt x="1252165" y="81406"/>
                  </a:cubicBezTo>
                  <a:lnTo>
                    <a:pt x="1252165" y="601848"/>
                  </a:lnTo>
                  <a:cubicBezTo>
                    <a:pt x="1252165" y="646808"/>
                    <a:pt x="1215718" y="683255"/>
                    <a:pt x="1170759" y="683255"/>
                  </a:cubicBezTo>
                  <a:lnTo>
                    <a:pt x="81406" y="683255"/>
                  </a:lnTo>
                  <a:cubicBezTo>
                    <a:pt x="36447" y="683255"/>
                    <a:pt x="0" y="646808"/>
                    <a:pt x="0" y="601848"/>
                  </a:cubicBezTo>
                  <a:lnTo>
                    <a:pt x="0" y="81406"/>
                  </a:lnTo>
                  <a:cubicBezTo>
                    <a:pt x="0" y="36447"/>
                    <a:pt x="36447" y="0"/>
                    <a:pt x="81406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52165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87128" y="5496715"/>
            <a:ext cx="849262" cy="798010"/>
            <a:chOff x="0" y="0"/>
            <a:chExt cx="865002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448896" y="5392552"/>
            <a:ext cx="2798456" cy="24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1"/>
              </a:lnSpc>
            </a:pPr>
            <a:r>
              <a:rPr lang="en-US" sz="1741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Process Calls 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00636" y="5914770"/>
            <a:ext cx="2568222" cy="47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9"/>
              </a:lnSpc>
            </a:pPr>
            <a:r>
              <a:rPr lang="en-US" sz="1869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fork() exec() wait() exit()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365475" y="5496715"/>
            <a:ext cx="849262" cy="798010"/>
            <a:chOff x="0" y="0"/>
            <a:chExt cx="865002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09414" y="5252099"/>
            <a:ext cx="2798456" cy="24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1"/>
              </a:lnSpc>
            </a:pPr>
            <a:r>
              <a:rPr lang="en-US" sz="1741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File System Calls 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9414" y="6052518"/>
            <a:ext cx="2568222" cy="47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9"/>
              </a:lnSpc>
            </a:pPr>
            <a:r>
              <a:rPr lang="en-US" sz="1869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open() close() read() write()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287128" y="7730854"/>
            <a:ext cx="863930" cy="811792"/>
            <a:chOff x="0" y="0"/>
            <a:chExt cx="865002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3" name="TextBox 33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8448896" y="7566011"/>
            <a:ext cx="1069333" cy="247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71"/>
              </a:lnSpc>
            </a:pPr>
            <a:r>
              <a:rPr lang="en-US" sz="1771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Memory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48896" y="8086197"/>
            <a:ext cx="2612579" cy="26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01"/>
              </a:lnSpc>
            </a:pPr>
            <a:r>
              <a:rPr lang="en-US" sz="1901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malloc() free()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365475" y="7790019"/>
            <a:ext cx="863930" cy="811792"/>
            <a:chOff x="0" y="0"/>
            <a:chExt cx="865002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509414" y="7625176"/>
            <a:ext cx="1069333" cy="247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71"/>
              </a:lnSpc>
            </a:pPr>
            <a:r>
              <a:rPr lang="en-US" sz="1771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I/O Calls 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509414" y="8145362"/>
            <a:ext cx="2007487" cy="496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01"/>
              </a:lnSpc>
            </a:pPr>
            <a:r>
              <a:rPr lang="en-US" sz="1901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ioctl() read() write()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23048" y="8214965"/>
            <a:ext cx="5032902" cy="60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5"/>
              </a:lnSpc>
            </a:pPr>
            <a:r>
              <a:rPr lang="en-US" sz="2255" i="1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Spark OS : Kernel-level API bridging user apps &amp; hardware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43580" y="5788888"/>
            <a:ext cx="336358" cy="174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79"/>
              </a:lnSpc>
            </a:pPr>
            <a:r>
              <a:rPr lang="en-US" sz="127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629260" y="5782955"/>
            <a:ext cx="336358" cy="174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79"/>
              </a:lnSpc>
            </a:pPr>
            <a:r>
              <a:rPr lang="en-US" sz="127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43580" y="8023986"/>
            <a:ext cx="336358" cy="174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79"/>
              </a:lnSpc>
            </a:pPr>
            <a:r>
              <a:rPr lang="en-US" sz="127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629260" y="8097861"/>
            <a:ext cx="336358" cy="174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79"/>
              </a:lnSpc>
            </a:pPr>
            <a:r>
              <a:rPr lang="en-US" sz="127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46" name="Freeform 46"/>
          <p:cNvSpPr/>
          <p:nvPr/>
        </p:nvSpPr>
        <p:spPr>
          <a:xfrm>
            <a:off x="15368236" y="7301630"/>
            <a:ext cx="1449034" cy="1443046"/>
          </a:xfrm>
          <a:custGeom>
            <a:avLst/>
            <a:gdLst/>
            <a:ahLst/>
            <a:cxnLst/>
            <a:rect l="l" t="t" r="r" b="b"/>
            <a:pathLst>
              <a:path w="1449034" h="1443046">
                <a:moveTo>
                  <a:pt x="0" y="0"/>
                </a:moveTo>
                <a:lnTo>
                  <a:pt x="1449034" y="0"/>
                </a:lnTo>
                <a:lnTo>
                  <a:pt x="1449034" y="1443046"/>
                </a:lnTo>
                <a:lnTo>
                  <a:pt x="0" y="14430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-2017772" y="2180649"/>
            <a:ext cx="5158391" cy="5173386"/>
          </a:xfrm>
          <a:custGeom>
            <a:avLst/>
            <a:gdLst/>
            <a:ahLst/>
            <a:cxnLst/>
            <a:rect l="l" t="t" r="r" b="b"/>
            <a:pathLst>
              <a:path w="5158391" h="5173386">
                <a:moveTo>
                  <a:pt x="0" y="0"/>
                </a:moveTo>
                <a:lnTo>
                  <a:pt x="5158391" y="0"/>
                </a:lnTo>
                <a:lnTo>
                  <a:pt x="5158391" y="5173386"/>
                </a:lnTo>
                <a:lnTo>
                  <a:pt x="0" y="5173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381663" y="3073532"/>
            <a:ext cx="4376208" cy="4340916"/>
          </a:xfrm>
          <a:custGeom>
            <a:avLst/>
            <a:gdLst/>
            <a:ahLst/>
            <a:cxnLst/>
            <a:rect l="l" t="t" r="r" b="b"/>
            <a:pathLst>
              <a:path w="4376208" h="4340916">
                <a:moveTo>
                  <a:pt x="0" y="0"/>
                </a:moveTo>
                <a:lnTo>
                  <a:pt x="4376208" y="0"/>
                </a:lnTo>
                <a:lnTo>
                  <a:pt x="4376208" y="4340916"/>
                </a:lnTo>
                <a:lnTo>
                  <a:pt x="0" y="4340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8000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99657" y="4459087"/>
            <a:ext cx="2738476" cy="2738476"/>
          </a:xfrm>
          <a:custGeom>
            <a:avLst/>
            <a:gdLst/>
            <a:ahLst/>
            <a:cxnLst/>
            <a:rect l="l" t="t" r="r" b="b"/>
            <a:pathLst>
              <a:path w="2738476" h="2738476">
                <a:moveTo>
                  <a:pt x="0" y="0"/>
                </a:moveTo>
                <a:lnTo>
                  <a:pt x="2738477" y="0"/>
                </a:lnTo>
                <a:lnTo>
                  <a:pt x="2738477" y="2738476"/>
                </a:lnTo>
                <a:lnTo>
                  <a:pt x="0" y="2738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297615" y="1066456"/>
            <a:ext cx="5467337" cy="988957"/>
            <a:chOff x="0" y="0"/>
            <a:chExt cx="1457479" cy="2636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000"/>
                  </a:srgbClr>
                </a:gs>
                <a:gs pos="50000">
                  <a:srgbClr val="F1F1F1">
                    <a:alpha val="5000"/>
                  </a:srgbClr>
                </a:gs>
                <a:gs pos="100000">
                  <a:srgbClr val="F1F1F1">
                    <a:alpha val="5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23048" y="1412096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2"/>
                </a:lnTo>
                <a:lnTo>
                  <a:pt x="0" y="3850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2965365" y="1599850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523048" y="4865090"/>
            <a:ext cx="5520734" cy="4355453"/>
            <a:chOff x="0" y="0"/>
            <a:chExt cx="1772900" cy="13986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2900" cy="1398688"/>
            </a:xfrm>
            <a:custGeom>
              <a:avLst/>
              <a:gdLst/>
              <a:ahLst/>
              <a:cxnLst/>
              <a:rect l="l" t="t" r="r" b="b"/>
              <a:pathLst>
                <a:path w="1772900" h="1398688">
                  <a:moveTo>
                    <a:pt x="70117" y="0"/>
                  </a:moveTo>
                  <a:lnTo>
                    <a:pt x="1702783" y="0"/>
                  </a:lnTo>
                  <a:cubicBezTo>
                    <a:pt x="1721380" y="0"/>
                    <a:pt x="1739214" y="7387"/>
                    <a:pt x="1752364" y="20537"/>
                  </a:cubicBezTo>
                  <a:cubicBezTo>
                    <a:pt x="1765513" y="33686"/>
                    <a:pt x="1772900" y="51521"/>
                    <a:pt x="1772900" y="70117"/>
                  </a:cubicBezTo>
                  <a:lnTo>
                    <a:pt x="1772900" y="1328571"/>
                  </a:lnTo>
                  <a:cubicBezTo>
                    <a:pt x="1772900" y="1367296"/>
                    <a:pt x="1741508" y="1398688"/>
                    <a:pt x="1702783" y="1398688"/>
                  </a:cubicBezTo>
                  <a:lnTo>
                    <a:pt x="70117" y="1398688"/>
                  </a:lnTo>
                  <a:cubicBezTo>
                    <a:pt x="51521" y="1398688"/>
                    <a:pt x="33686" y="1391301"/>
                    <a:pt x="20537" y="1378151"/>
                  </a:cubicBezTo>
                  <a:cubicBezTo>
                    <a:pt x="7387" y="1365002"/>
                    <a:pt x="0" y="1347167"/>
                    <a:pt x="0" y="1328571"/>
                  </a:cubicBezTo>
                  <a:lnTo>
                    <a:pt x="0" y="70117"/>
                  </a:lnTo>
                  <a:cubicBezTo>
                    <a:pt x="0" y="51521"/>
                    <a:pt x="7387" y="33686"/>
                    <a:pt x="20537" y="20537"/>
                  </a:cubicBezTo>
                  <a:cubicBezTo>
                    <a:pt x="33686" y="7387"/>
                    <a:pt x="51521" y="0"/>
                    <a:pt x="70117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772900" cy="1455838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94094" y="4865090"/>
            <a:ext cx="5520734" cy="2105366"/>
            <a:chOff x="0" y="0"/>
            <a:chExt cx="1772900" cy="6761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72900" cy="676107"/>
            </a:xfrm>
            <a:custGeom>
              <a:avLst/>
              <a:gdLst/>
              <a:ahLst/>
              <a:cxnLst/>
              <a:rect l="l" t="t" r="r" b="b"/>
              <a:pathLst>
                <a:path w="1772900" h="676107">
                  <a:moveTo>
                    <a:pt x="70117" y="0"/>
                  </a:moveTo>
                  <a:lnTo>
                    <a:pt x="1702783" y="0"/>
                  </a:lnTo>
                  <a:cubicBezTo>
                    <a:pt x="1721380" y="0"/>
                    <a:pt x="1739214" y="7387"/>
                    <a:pt x="1752364" y="20537"/>
                  </a:cubicBezTo>
                  <a:cubicBezTo>
                    <a:pt x="1765513" y="33686"/>
                    <a:pt x="1772900" y="51521"/>
                    <a:pt x="1772900" y="70117"/>
                  </a:cubicBezTo>
                  <a:lnTo>
                    <a:pt x="1772900" y="605990"/>
                  </a:lnTo>
                  <a:cubicBezTo>
                    <a:pt x="1772900" y="644714"/>
                    <a:pt x="1741508" y="676107"/>
                    <a:pt x="1702783" y="676107"/>
                  </a:cubicBezTo>
                  <a:lnTo>
                    <a:pt x="70117" y="676107"/>
                  </a:lnTo>
                  <a:cubicBezTo>
                    <a:pt x="31392" y="676107"/>
                    <a:pt x="0" y="644714"/>
                    <a:pt x="0" y="605990"/>
                  </a:cubicBezTo>
                  <a:lnTo>
                    <a:pt x="0" y="70117"/>
                  </a:lnTo>
                  <a:cubicBezTo>
                    <a:pt x="0" y="51521"/>
                    <a:pt x="7387" y="33686"/>
                    <a:pt x="20537" y="20537"/>
                  </a:cubicBezTo>
                  <a:cubicBezTo>
                    <a:pt x="33686" y="7387"/>
                    <a:pt x="51521" y="0"/>
                    <a:pt x="70117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772900" cy="733257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54247" y="5412001"/>
            <a:ext cx="643505" cy="604670"/>
            <a:chOff x="0" y="0"/>
            <a:chExt cx="865002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974572" y="5313103"/>
            <a:ext cx="643505" cy="604670"/>
            <a:chOff x="0" y="0"/>
            <a:chExt cx="865002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394094" y="7115177"/>
            <a:ext cx="5520734" cy="2105366"/>
            <a:chOff x="0" y="0"/>
            <a:chExt cx="1772900" cy="67610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72900" cy="676107"/>
            </a:xfrm>
            <a:custGeom>
              <a:avLst/>
              <a:gdLst/>
              <a:ahLst/>
              <a:cxnLst/>
              <a:rect l="l" t="t" r="r" b="b"/>
              <a:pathLst>
                <a:path w="1772900" h="676107">
                  <a:moveTo>
                    <a:pt x="70117" y="0"/>
                  </a:moveTo>
                  <a:lnTo>
                    <a:pt x="1702783" y="0"/>
                  </a:lnTo>
                  <a:cubicBezTo>
                    <a:pt x="1721380" y="0"/>
                    <a:pt x="1739214" y="7387"/>
                    <a:pt x="1752364" y="20537"/>
                  </a:cubicBezTo>
                  <a:cubicBezTo>
                    <a:pt x="1765513" y="33686"/>
                    <a:pt x="1772900" y="51521"/>
                    <a:pt x="1772900" y="70117"/>
                  </a:cubicBezTo>
                  <a:lnTo>
                    <a:pt x="1772900" y="605990"/>
                  </a:lnTo>
                  <a:cubicBezTo>
                    <a:pt x="1772900" y="644714"/>
                    <a:pt x="1741508" y="676107"/>
                    <a:pt x="1702783" y="676107"/>
                  </a:cubicBezTo>
                  <a:lnTo>
                    <a:pt x="70117" y="676107"/>
                  </a:lnTo>
                  <a:cubicBezTo>
                    <a:pt x="31392" y="676107"/>
                    <a:pt x="0" y="644714"/>
                    <a:pt x="0" y="605990"/>
                  </a:cubicBezTo>
                  <a:lnTo>
                    <a:pt x="0" y="70117"/>
                  </a:lnTo>
                  <a:cubicBezTo>
                    <a:pt x="0" y="51521"/>
                    <a:pt x="7387" y="33686"/>
                    <a:pt x="20537" y="20537"/>
                  </a:cubicBezTo>
                  <a:cubicBezTo>
                    <a:pt x="33686" y="7387"/>
                    <a:pt x="51521" y="0"/>
                    <a:pt x="70117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772900" cy="733257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974572" y="7456231"/>
            <a:ext cx="643505" cy="604670"/>
            <a:chOff x="0" y="0"/>
            <a:chExt cx="865002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754696" y="1373996"/>
            <a:ext cx="4553174" cy="22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08"/>
              </a:lnSpc>
            </a:pPr>
            <a:r>
              <a:rPr lang="en-US" sz="1708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</a:t>
            </a:r>
            <a:r>
              <a:rPr lang="en-US" sz="1600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Tech Titans </a:t>
            </a:r>
            <a:endParaRPr lang="en-US" sz="1708" i="1" dirty="0">
              <a:solidFill>
                <a:srgbClr val="A2A2A2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523048" y="2637919"/>
            <a:ext cx="15241903" cy="67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82"/>
              </a:lnSpc>
            </a:pPr>
            <a:r>
              <a:rPr lang="en-US" sz="4182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INTER-PROCESS COMMUNICATION (IPC)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07821" y="5592047"/>
            <a:ext cx="336358" cy="16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6"/>
              </a:lnSpc>
            </a:pPr>
            <a:r>
              <a:rPr lang="en-US" sz="120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81193" y="5525837"/>
            <a:ext cx="3631390" cy="220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06"/>
              </a:lnSpc>
            </a:pPr>
            <a:r>
              <a:rPr lang="en-US" sz="1506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Shared Memory 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54247" y="6438000"/>
            <a:ext cx="4049000" cy="39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6"/>
              </a:lnSpc>
            </a:pPr>
            <a:r>
              <a:rPr lang="en-US" sz="1406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Processes share a common memory region for ultra-fast data exchange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54247" y="7245940"/>
            <a:ext cx="4381311" cy="39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6"/>
              </a:lnSpc>
            </a:pPr>
            <a:r>
              <a:rPr lang="en-US" sz="1406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No kernel involvement after setup — minimal overhead &amp; max throughput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54247" y="8042342"/>
            <a:ext cx="4458337" cy="39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6"/>
              </a:lnSpc>
            </a:pPr>
            <a:r>
              <a:rPr lang="en-US" sz="1406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Ideal for high-bandwidth tasks like video buffers &amp; real-time processing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28146" y="5493148"/>
            <a:ext cx="336358" cy="16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6"/>
              </a:lnSpc>
            </a:pPr>
            <a:r>
              <a:rPr lang="en-US" sz="120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01519" y="5426938"/>
            <a:ext cx="3224303" cy="220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06"/>
              </a:lnSpc>
            </a:pPr>
            <a:r>
              <a:rPr lang="en-US" sz="1506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Message Passing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74572" y="6100533"/>
            <a:ext cx="4359778" cy="37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8"/>
              </a:lnSpc>
            </a:pPr>
            <a:r>
              <a:rPr lang="en-US" sz="1408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Processes communicate via send() &amp; receive() system calls through kernel-managed channels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28146" y="7645802"/>
            <a:ext cx="336358" cy="16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6"/>
              </a:lnSpc>
            </a:pPr>
            <a:r>
              <a:rPr lang="en-US" sz="120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01519" y="7579592"/>
            <a:ext cx="3532832" cy="220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06"/>
              </a:lnSpc>
            </a:pPr>
            <a:r>
              <a:rPr lang="en-US" sz="1506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Semaphores 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74572" y="8268540"/>
            <a:ext cx="4359778" cy="37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8"/>
              </a:lnSpc>
            </a:pPr>
            <a:r>
              <a:rPr lang="en-US" sz="1408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Synchronization primitives using wait() &amp; signal() to prevent race conditions &amp; deadlocks</a:t>
            </a:r>
          </a:p>
        </p:txBody>
      </p:sp>
      <p:sp>
        <p:nvSpPr>
          <p:cNvPr id="39" name="Freeform 39"/>
          <p:cNvSpPr/>
          <p:nvPr/>
        </p:nvSpPr>
        <p:spPr>
          <a:xfrm>
            <a:off x="13576627" y="5955530"/>
            <a:ext cx="6661538" cy="6661538"/>
          </a:xfrm>
          <a:custGeom>
            <a:avLst/>
            <a:gdLst/>
            <a:ahLst/>
            <a:cxnLst/>
            <a:rect l="l" t="t" r="r" b="b"/>
            <a:pathLst>
              <a:path w="6661538" h="6661538">
                <a:moveTo>
                  <a:pt x="0" y="0"/>
                </a:moveTo>
                <a:lnTo>
                  <a:pt x="6661539" y="0"/>
                </a:lnTo>
                <a:lnTo>
                  <a:pt x="6661539" y="6661538"/>
                </a:lnTo>
                <a:lnTo>
                  <a:pt x="0" y="66615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4048541" y="4611262"/>
            <a:ext cx="1461818" cy="1406924"/>
          </a:xfrm>
          <a:custGeom>
            <a:avLst/>
            <a:gdLst/>
            <a:ahLst/>
            <a:cxnLst/>
            <a:rect l="l" t="t" r="r" b="b"/>
            <a:pathLst>
              <a:path w="1461818" h="1406924">
                <a:moveTo>
                  <a:pt x="0" y="0"/>
                </a:moveTo>
                <a:lnTo>
                  <a:pt x="1461818" y="0"/>
                </a:lnTo>
                <a:lnTo>
                  <a:pt x="1461818" y="1406924"/>
                </a:lnTo>
                <a:lnTo>
                  <a:pt x="0" y="1406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8000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97615" y="1100978"/>
            <a:ext cx="5467337" cy="988957"/>
            <a:chOff x="0" y="0"/>
            <a:chExt cx="1457479" cy="2636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000"/>
                  </a:srgbClr>
                </a:gs>
                <a:gs pos="50000">
                  <a:srgbClr val="F1F1F1">
                    <a:alpha val="5000"/>
                  </a:srgbClr>
                </a:gs>
                <a:gs pos="100000">
                  <a:srgbClr val="F1F1F1">
                    <a:alpha val="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23048" y="1446617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2965365" y="1643896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1754696" y="1418042"/>
            <a:ext cx="4553174" cy="2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9"/>
              </a:lnSpc>
            </a:pPr>
            <a:r>
              <a:rPr lang="en-US" sz="1699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:Tech Titans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33346" y="2935066"/>
            <a:ext cx="9931606" cy="451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91"/>
              </a:lnSpc>
            </a:pPr>
            <a:r>
              <a:rPr lang="en-US" sz="2791" dirty="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DEADLOCK HANDLING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833346" y="4767308"/>
            <a:ext cx="4832029" cy="2127625"/>
            <a:chOff x="0" y="0"/>
            <a:chExt cx="1551733" cy="6832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932923" y="4767308"/>
            <a:ext cx="4832029" cy="2127625"/>
            <a:chOff x="0" y="0"/>
            <a:chExt cx="1551733" cy="6832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1225" y="7058397"/>
            <a:ext cx="4832029" cy="2127625"/>
            <a:chOff x="0" y="0"/>
            <a:chExt cx="1551733" cy="68325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950802" y="7058397"/>
            <a:ext cx="3899188" cy="2127625"/>
            <a:chOff x="0" y="0"/>
            <a:chExt cx="1252165" cy="6832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2165" cy="683255"/>
            </a:xfrm>
            <a:custGeom>
              <a:avLst/>
              <a:gdLst/>
              <a:ahLst/>
              <a:cxnLst/>
              <a:rect l="l" t="t" r="r" b="b"/>
              <a:pathLst>
                <a:path w="1252165" h="683255">
                  <a:moveTo>
                    <a:pt x="81406" y="0"/>
                  </a:moveTo>
                  <a:lnTo>
                    <a:pt x="1170759" y="0"/>
                  </a:lnTo>
                  <a:cubicBezTo>
                    <a:pt x="1192349" y="0"/>
                    <a:pt x="1213055" y="8577"/>
                    <a:pt x="1228322" y="23843"/>
                  </a:cubicBezTo>
                  <a:cubicBezTo>
                    <a:pt x="1243589" y="39110"/>
                    <a:pt x="1252165" y="59816"/>
                    <a:pt x="1252165" y="81406"/>
                  </a:cubicBezTo>
                  <a:lnTo>
                    <a:pt x="1252165" y="601848"/>
                  </a:lnTo>
                  <a:cubicBezTo>
                    <a:pt x="1252165" y="646808"/>
                    <a:pt x="1215718" y="683255"/>
                    <a:pt x="1170759" y="683255"/>
                  </a:cubicBezTo>
                  <a:lnTo>
                    <a:pt x="81406" y="683255"/>
                  </a:lnTo>
                  <a:cubicBezTo>
                    <a:pt x="36447" y="683255"/>
                    <a:pt x="0" y="646808"/>
                    <a:pt x="0" y="601848"/>
                  </a:cubicBezTo>
                  <a:lnTo>
                    <a:pt x="0" y="81406"/>
                  </a:lnTo>
                  <a:cubicBezTo>
                    <a:pt x="0" y="36447"/>
                    <a:pt x="36447" y="0"/>
                    <a:pt x="81406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52165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87128" y="5496715"/>
            <a:ext cx="849262" cy="798010"/>
            <a:chOff x="0" y="0"/>
            <a:chExt cx="865002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448896" y="5392552"/>
            <a:ext cx="2798456" cy="21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33"/>
              </a:lnSpc>
            </a:pPr>
            <a:r>
              <a:rPr lang="en-US" sz="1633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Deadlock Prevention 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00636" y="5914770"/>
            <a:ext cx="2568222" cy="611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9"/>
              </a:lnSpc>
            </a:pPr>
            <a:r>
              <a:rPr lang="en-US" sz="1199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Eliminate Mutual Exclusion, Hold &amp; Wait, No Preemption, or Circular Wait conditions at design time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365475" y="5496715"/>
            <a:ext cx="849262" cy="798010"/>
            <a:chOff x="0" y="0"/>
            <a:chExt cx="865002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09414" y="5252099"/>
            <a:ext cx="2798456" cy="21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33"/>
              </a:lnSpc>
            </a:pPr>
            <a:r>
              <a:rPr lang="en-US" sz="1633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Deadlock Avoidance 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9414" y="6052518"/>
            <a:ext cx="2568222" cy="611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9"/>
              </a:lnSpc>
            </a:pPr>
            <a:r>
              <a:rPr lang="en-US" sz="1199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Banker's Algorithm checks safe state before resource allocation; denies unsafe requests dynamically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287128" y="7730854"/>
            <a:ext cx="863930" cy="811792"/>
            <a:chOff x="0" y="0"/>
            <a:chExt cx="865002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3" name="TextBox 33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8448896" y="7566011"/>
            <a:ext cx="1069333" cy="625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2"/>
              </a:lnSpc>
            </a:pPr>
            <a:r>
              <a:rPr lang="en-US" sz="1662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Deadlock Detection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48896" y="8086197"/>
            <a:ext cx="2612579" cy="63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20"/>
              </a:lnSpc>
            </a:pPr>
            <a:r>
              <a:rPr lang="en-US" sz="1220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Resource Allocation Graph &amp; cycle detection algorithms identify deadlocked processes in real time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365475" y="7790019"/>
            <a:ext cx="863930" cy="811792"/>
            <a:chOff x="0" y="0"/>
            <a:chExt cx="865002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509414" y="7625176"/>
            <a:ext cx="1069333" cy="625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2"/>
              </a:lnSpc>
            </a:pPr>
            <a:r>
              <a:rPr lang="en-US" sz="1662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Deadlock Recovery 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509414" y="8145362"/>
            <a:ext cx="2007487" cy="784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20"/>
              </a:lnSpc>
            </a:pPr>
            <a:r>
              <a:rPr lang="en-US" sz="1220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Terminate processes or preempt &amp; rollback resources to break deadlock and restore system progress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23048" y="8214965"/>
            <a:ext cx="5032902" cy="56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15"/>
              </a:lnSpc>
            </a:pPr>
            <a:r>
              <a:rPr lang="en-US" sz="2115" i="1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Strategy : Prevention + Avoidance + Detection + Recovery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43580" y="5788888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629260" y="5782955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43580" y="8023986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629260" y="8097861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46" name="Freeform 46"/>
          <p:cNvSpPr/>
          <p:nvPr/>
        </p:nvSpPr>
        <p:spPr>
          <a:xfrm>
            <a:off x="15319652" y="7231780"/>
            <a:ext cx="1547659" cy="1476706"/>
          </a:xfrm>
          <a:custGeom>
            <a:avLst/>
            <a:gdLst/>
            <a:ahLst/>
            <a:cxnLst/>
            <a:rect l="l" t="t" r="r" b="b"/>
            <a:pathLst>
              <a:path w="1547659" h="1476706">
                <a:moveTo>
                  <a:pt x="0" y="0"/>
                </a:moveTo>
                <a:lnTo>
                  <a:pt x="1547659" y="0"/>
                </a:lnTo>
                <a:lnTo>
                  <a:pt x="1547659" y="1476706"/>
                </a:lnTo>
                <a:lnTo>
                  <a:pt x="0" y="1476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-1869506" y="2345708"/>
            <a:ext cx="4834871" cy="4834871"/>
          </a:xfrm>
          <a:custGeom>
            <a:avLst/>
            <a:gdLst/>
            <a:ahLst/>
            <a:cxnLst/>
            <a:rect l="l" t="t" r="r" b="b"/>
            <a:pathLst>
              <a:path w="4834871" h="4834871">
                <a:moveTo>
                  <a:pt x="0" y="0"/>
                </a:moveTo>
                <a:lnTo>
                  <a:pt x="4834871" y="0"/>
                </a:lnTo>
                <a:lnTo>
                  <a:pt x="4834871" y="4834871"/>
                </a:lnTo>
                <a:lnTo>
                  <a:pt x="0" y="48348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384201" y="3062513"/>
            <a:ext cx="4371831" cy="4358935"/>
          </a:xfrm>
          <a:custGeom>
            <a:avLst/>
            <a:gdLst/>
            <a:ahLst/>
            <a:cxnLst/>
            <a:rect l="l" t="t" r="r" b="b"/>
            <a:pathLst>
              <a:path w="4371831" h="4358935">
                <a:moveTo>
                  <a:pt x="0" y="0"/>
                </a:moveTo>
                <a:lnTo>
                  <a:pt x="4371832" y="0"/>
                </a:lnTo>
                <a:lnTo>
                  <a:pt x="4371832" y="4358935"/>
                </a:lnTo>
                <a:lnTo>
                  <a:pt x="0" y="43589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8000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8218" y="8284742"/>
            <a:ext cx="5359034" cy="5379699"/>
          </a:xfrm>
          <a:custGeom>
            <a:avLst/>
            <a:gdLst/>
            <a:ahLst/>
            <a:cxnLst/>
            <a:rect l="l" t="t" r="r" b="b"/>
            <a:pathLst>
              <a:path w="5359034" h="5379699">
                <a:moveTo>
                  <a:pt x="0" y="0"/>
                </a:moveTo>
                <a:lnTo>
                  <a:pt x="5359034" y="0"/>
                </a:lnTo>
                <a:lnTo>
                  <a:pt x="5359034" y="5379699"/>
                </a:lnTo>
                <a:lnTo>
                  <a:pt x="0" y="5379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365671" y="3989220"/>
            <a:ext cx="4113195" cy="3383103"/>
          </a:xfrm>
          <a:custGeom>
            <a:avLst/>
            <a:gdLst/>
            <a:ahLst/>
            <a:cxnLst/>
            <a:rect l="l" t="t" r="r" b="b"/>
            <a:pathLst>
              <a:path w="4113195" h="3383103">
                <a:moveTo>
                  <a:pt x="0" y="0"/>
                </a:moveTo>
                <a:lnTo>
                  <a:pt x="4113196" y="0"/>
                </a:lnTo>
                <a:lnTo>
                  <a:pt x="4113196" y="3383103"/>
                </a:lnTo>
                <a:lnTo>
                  <a:pt x="0" y="33831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458200" y="3150262"/>
            <a:ext cx="8306167" cy="1942119"/>
            <a:chOff x="0" y="-57150"/>
            <a:chExt cx="2214252" cy="5177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4252" cy="460578"/>
            </a:xfrm>
            <a:custGeom>
              <a:avLst/>
              <a:gdLst/>
              <a:ahLst/>
              <a:cxnLst/>
              <a:rect l="l" t="t" r="r" b="b"/>
              <a:pathLst>
                <a:path w="2214252" h="460578">
                  <a:moveTo>
                    <a:pt x="76430" y="0"/>
                  </a:moveTo>
                  <a:lnTo>
                    <a:pt x="2137822" y="0"/>
                  </a:lnTo>
                  <a:cubicBezTo>
                    <a:pt x="2158093" y="0"/>
                    <a:pt x="2177533" y="8052"/>
                    <a:pt x="2191866" y="22386"/>
                  </a:cubicBezTo>
                  <a:cubicBezTo>
                    <a:pt x="2206200" y="36719"/>
                    <a:pt x="2214252" y="56159"/>
                    <a:pt x="2214252" y="76430"/>
                  </a:cubicBezTo>
                  <a:lnTo>
                    <a:pt x="2214252" y="384149"/>
                  </a:lnTo>
                  <a:cubicBezTo>
                    <a:pt x="2214252" y="404419"/>
                    <a:pt x="2206200" y="423859"/>
                    <a:pt x="2191866" y="438193"/>
                  </a:cubicBezTo>
                  <a:cubicBezTo>
                    <a:pt x="2177533" y="452526"/>
                    <a:pt x="2158093" y="460578"/>
                    <a:pt x="2137822" y="460578"/>
                  </a:cubicBezTo>
                  <a:lnTo>
                    <a:pt x="76430" y="460578"/>
                  </a:lnTo>
                  <a:cubicBezTo>
                    <a:pt x="56159" y="460578"/>
                    <a:pt x="36719" y="452526"/>
                    <a:pt x="22386" y="438193"/>
                  </a:cubicBezTo>
                  <a:cubicBezTo>
                    <a:pt x="8052" y="423859"/>
                    <a:pt x="0" y="404419"/>
                    <a:pt x="0" y="384149"/>
                  </a:cubicBezTo>
                  <a:lnTo>
                    <a:pt x="0" y="76430"/>
                  </a:lnTo>
                  <a:cubicBezTo>
                    <a:pt x="0" y="56159"/>
                    <a:pt x="8052" y="36719"/>
                    <a:pt x="22386" y="22386"/>
                  </a:cubicBezTo>
                  <a:cubicBezTo>
                    <a:pt x="36719" y="8052"/>
                    <a:pt x="56159" y="0"/>
                    <a:pt x="76430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214252" cy="517728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7386635" y="6115119"/>
            <a:ext cx="1399841" cy="1394351"/>
          </a:xfrm>
          <a:custGeom>
            <a:avLst/>
            <a:gdLst/>
            <a:ahLst/>
            <a:cxnLst/>
            <a:rect l="l" t="t" r="r" b="b"/>
            <a:pathLst>
              <a:path w="1399841" h="1394351">
                <a:moveTo>
                  <a:pt x="0" y="0"/>
                </a:moveTo>
                <a:lnTo>
                  <a:pt x="1399841" y="0"/>
                </a:lnTo>
                <a:lnTo>
                  <a:pt x="1399841" y="1394351"/>
                </a:lnTo>
                <a:lnTo>
                  <a:pt x="0" y="13943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458784" y="5288974"/>
            <a:ext cx="8306167" cy="1727736"/>
            <a:chOff x="0" y="0"/>
            <a:chExt cx="2214252" cy="4605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4252" cy="460578"/>
            </a:xfrm>
            <a:custGeom>
              <a:avLst/>
              <a:gdLst/>
              <a:ahLst/>
              <a:cxnLst/>
              <a:rect l="l" t="t" r="r" b="b"/>
              <a:pathLst>
                <a:path w="2214252" h="460578">
                  <a:moveTo>
                    <a:pt x="76430" y="0"/>
                  </a:moveTo>
                  <a:lnTo>
                    <a:pt x="2137822" y="0"/>
                  </a:lnTo>
                  <a:cubicBezTo>
                    <a:pt x="2158093" y="0"/>
                    <a:pt x="2177533" y="8052"/>
                    <a:pt x="2191866" y="22386"/>
                  </a:cubicBezTo>
                  <a:cubicBezTo>
                    <a:pt x="2206200" y="36719"/>
                    <a:pt x="2214252" y="56159"/>
                    <a:pt x="2214252" y="76430"/>
                  </a:cubicBezTo>
                  <a:lnTo>
                    <a:pt x="2214252" y="384149"/>
                  </a:lnTo>
                  <a:cubicBezTo>
                    <a:pt x="2214252" y="404419"/>
                    <a:pt x="2206200" y="423859"/>
                    <a:pt x="2191866" y="438193"/>
                  </a:cubicBezTo>
                  <a:cubicBezTo>
                    <a:pt x="2177533" y="452526"/>
                    <a:pt x="2158093" y="460578"/>
                    <a:pt x="2137822" y="460578"/>
                  </a:cubicBezTo>
                  <a:lnTo>
                    <a:pt x="76430" y="460578"/>
                  </a:lnTo>
                  <a:cubicBezTo>
                    <a:pt x="56159" y="460578"/>
                    <a:pt x="36719" y="452526"/>
                    <a:pt x="22386" y="438193"/>
                  </a:cubicBezTo>
                  <a:cubicBezTo>
                    <a:pt x="8052" y="423859"/>
                    <a:pt x="0" y="404419"/>
                    <a:pt x="0" y="384149"/>
                  </a:cubicBezTo>
                  <a:lnTo>
                    <a:pt x="0" y="76430"/>
                  </a:lnTo>
                  <a:cubicBezTo>
                    <a:pt x="0" y="56159"/>
                    <a:pt x="8052" y="36719"/>
                    <a:pt x="22386" y="22386"/>
                  </a:cubicBezTo>
                  <a:cubicBezTo>
                    <a:pt x="36719" y="8052"/>
                    <a:pt x="56159" y="0"/>
                    <a:pt x="76430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214252" cy="517728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458784" y="7216734"/>
            <a:ext cx="8306167" cy="1727736"/>
            <a:chOff x="0" y="0"/>
            <a:chExt cx="2214252" cy="4605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14252" cy="460578"/>
            </a:xfrm>
            <a:custGeom>
              <a:avLst/>
              <a:gdLst/>
              <a:ahLst/>
              <a:cxnLst/>
              <a:rect l="l" t="t" r="r" b="b"/>
              <a:pathLst>
                <a:path w="2214252" h="460578">
                  <a:moveTo>
                    <a:pt x="76430" y="0"/>
                  </a:moveTo>
                  <a:lnTo>
                    <a:pt x="2137822" y="0"/>
                  </a:lnTo>
                  <a:cubicBezTo>
                    <a:pt x="2158093" y="0"/>
                    <a:pt x="2177533" y="8052"/>
                    <a:pt x="2191866" y="22386"/>
                  </a:cubicBezTo>
                  <a:cubicBezTo>
                    <a:pt x="2206200" y="36719"/>
                    <a:pt x="2214252" y="56159"/>
                    <a:pt x="2214252" y="76430"/>
                  </a:cubicBezTo>
                  <a:lnTo>
                    <a:pt x="2214252" y="384149"/>
                  </a:lnTo>
                  <a:cubicBezTo>
                    <a:pt x="2214252" y="404419"/>
                    <a:pt x="2206200" y="423859"/>
                    <a:pt x="2191866" y="438193"/>
                  </a:cubicBezTo>
                  <a:cubicBezTo>
                    <a:pt x="2177533" y="452526"/>
                    <a:pt x="2158093" y="460578"/>
                    <a:pt x="2137822" y="460578"/>
                  </a:cubicBezTo>
                  <a:lnTo>
                    <a:pt x="76430" y="460578"/>
                  </a:lnTo>
                  <a:cubicBezTo>
                    <a:pt x="56159" y="460578"/>
                    <a:pt x="36719" y="452526"/>
                    <a:pt x="22386" y="438193"/>
                  </a:cubicBezTo>
                  <a:cubicBezTo>
                    <a:pt x="8052" y="423859"/>
                    <a:pt x="0" y="404419"/>
                    <a:pt x="0" y="384149"/>
                  </a:cubicBezTo>
                  <a:lnTo>
                    <a:pt x="0" y="76430"/>
                  </a:lnTo>
                  <a:cubicBezTo>
                    <a:pt x="0" y="56159"/>
                    <a:pt x="8052" y="36719"/>
                    <a:pt x="22386" y="22386"/>
                  </a:cubicBezTo>
                  <a:cubicBezTo>
                    <a:pt x="36719" y="8052"/>
                    <a:pt x="56159" y="0"/>
                    <a:pt x="76430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214252" cy="517728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0" y="3853293"/>
            <a:ext cx="788030" cy="78803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0" y="5760542"/>
            <a:ext cx="788030" cy="78803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0" y="7664409"/>
            <a:ext cx="788030" cy="78803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523048" y="3326545"/>
            <a:ext cx="6300907" cy="127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0"/>
              </a:lnSpc>
            </a:pPr>
            <a:r>
              <a:rPr lang="en-US" sz="447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IMPLEMENTATION</a:t>
            </a:r>
          </a:p>
          <a:p>
            <a:pPr marL="0" lvl="0" indent="0" algn="l">
              <a:lnSpc>
                <a:spcPts val="4470"/>
              </a:lnSpc>
            </a:pPr>
            <a:r>
              <a:rPr lang="en-US" sz="447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DETAILS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3048" y="6154557"/>
            <a:ext cx="5304579" cy="680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12"/>
              </a:lnSpc>
            </a:pPr>
            <a:r>
              <a:rPr lang="en-US" sz="1712" dirty="0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Spark OS is built on a robust technical foundation using industry-standard tools and a clean architectural design: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51207" y="3926178"/>
            <a:ext cx="6080958" cy="49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38"/>
              </a:lnSpc>
            </a:pPr>
            <a:r>
              <a:rPr lang="en-US" sz="1238" dirty="0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Programming Language: C/C++ for core kernel development; x86 Assembly for the bootloader stage, interrupt handlers, and low-level hardware I/O operations.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51207" y="5966186"/>
            <a:ext cx="6080958" cy="33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38"/>
              </a:lnSpc>
            </a:pPr>
            <a:r>
              <a:rPr lang="en-US" sz="1238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Dev Environment: Linux cross-compilation toolchain (GCC, LD, NASM) with QEMU emulator for rapid testing &amp; debugging.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51207" y="7870053"/>
            <a:ext cx="6080958" cy="33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38"/>
              </a:lnSpc>
            </a:pPr>
            <a:r>
              <a:rPr lang="en-US" sz="1238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Architecture: x86 32-bit Protected Mode — modular microkernel with strict kernel/user space separation via system call interface.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32065" y="4085046"/>
            <a:ext cx="411900" cy="17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38"/>
              </a:lnSpc>
            </a:pPr>
            <a:r>
              <a:rPr lang="en-US" sz="123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32065" y="5990580"/>
            <a:ext cx="411900" cy="17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38"/>
              </a:lnSpc>
            </a:pPr>
            <a:r>
              <a:rPr lang="en-US" sz="123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32065" y="7893009"/>
            <a:ext cx="411900" cy="17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38"/>
              </a:lnSpc>
            </a:pPr>
            <a:r>
              <a:rPr lang="en-US" sz="123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220463" y="1323480"/>
            <a:ext cx="5467337" cy="988957"/>
            <a:chOff x="0" y="0"/>
            <a:chExt cx="1457479" cy="26363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23048" y="1669119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AutoShape 35"/>
          <p:cNvSpPr/>
          <p:nvPr/>
        </p:nvSpPr>
        <p:spPr>
          <a:xfrm>
            <a:off x="2965365" y="1856873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TextBox 36"/>
          <p:cNvSpPr txBox="1"/>
          <p:nvPr/>
        </p:nvSpPr>
        <p:spPr>
          <a:xfrm>
            <a:off x="11754696" y="1640544"/>
            <a:ext cx="4553174" cy="173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5"/>
              </a:lnSpc>
            </a:pPr>
            <a:r>
              <a:rPr lang="en-US" sz="1345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:Tech Titans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11271" y="3217602"/>
            <a:ext cx="5580981" cy="5592706"/>
          </a:xfrm>
          <a:custGeom>
            <a:avLst/>
            <a:gdLst/>
            <a:ahLst/>
            <a:cxnLst/>
            <a:rect l="l" t="t" r="r" b="b"/>
            <a:pathLst>
              <a:path w="5580981" h="5592706">
                <a:moveTo>
                  <a:pt x="0" y="0"/>
                </a:moveTo>
                <a:lnTo>
                  <a:pt x="5580981" y="0"/>
                </a:lnTo>
                <a:lnTo>
                  <a:pt x="5580981" y="5592706"/>
                </a:lnTo>
                <a:lnTo>
                  <a:pt x="0" y="5592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58238" y="4816136"/>
            <a:ext cx="2366080" cy="2360120"/>
          </a:xfrm>
          <a:custGeom>
            <a:avLst/>
            <a:gdLst/>
            <a:ahLst/>
            <a:cxnLst/>
            <a:rect l="l" t="t" r="r" b="b"/>
            <a:pathLst>
              <a:path w="2366080" h="2360120">
                <a:moveTo>
                  <a:pt x="0" y="0"/>
                </a:moveTo>
                <a:lnTo>
                  <a:pt x="2366080" y="0"/>
                </a:lnTo>
                <a:lnTo>
                  <a:pt x="2366080" y="2360119"/>
                </a:lnTo>
                <a:lnTo>
                  <a:pt x="0" y="23601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8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23048" y="3190217"/>
            <a:ext cx="7893911" cy="1478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9"/>
              </a:lnSpc>
            </a:pPr>
            <a:r>
              <a:rPr lang="en-US" sz="510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PROJECT GOALS AND OBJECTIVES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829800" y="3247367"/>
            <a:ext cx="6909842" cy="2900967"/>
            <a:chOff x="0" y="0"/>
            <a:chExt cx="1898968" cy="7972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98968" cy="797246"/>
            </a:xfrm>
            <a:custGeom>
              <a:avLst/>
              <a:gdLst/>
              <a:ahLst/>
              <a:cxnLst/>
              <a:rect l="l" t="t" r="r" b="b"/>
              <a:pathLst>
                <a:path w="1898968" h="797246">
                  <a:moveTo>
                    <a:pt x="91874" y="0"/>
                  </a:moveTo>
                  <a:lnTo>
                    <a:pt x="1807093" y="0"/>
                  </a:lnTo>
                  <a:cubicBezTo>
                    <a:pt x="1857834" y="0"/>
                    <a:pt x="1898968" y="41134"/>
                    <a:pt x="1898968" y="91874"/>
                  </a:cubicBezTo>
                  <a:lnTo>
                    <a:pt x="1898968" y="705372"/>
                  </a:lnTo>
                  <a:cubicBezTo>
                    <a:pt x="1898968" y="729738"/>
                    <a:pt x="1889288" y="753107"/>
                    <a:pt x="1872058" y="770337"/>
                  </a:cubicBezTo>
                  <a:cubicBezTo>
                    <a:pt x="1854829" y="787566"/>
                    <a:pt x="1831460" y="797246"/>
                    <a:pt x="1807093" y="797246"/>
                  </a:cubicBezTo>
                  <a:lnTo>
                    <a:pt x="91874" y="797246"/>
                  </a:lnTo>
                  <a:cubicBezTo>
                    <a:pt x="41134" y="797246"/>
                    <a:pt x="0" y="756112"/>
                    <a:pt x="0" y="705372"/>
                  </a:cubicBezTo>
                  <a:lnTo>
                    <a:pt x="0" y="91874"/>
                  </a:lnTo>
                  <a:cubicBezTo>
                    <a:pt x="0" y="41134"/>
                    <a:pt x="41134" y="0"/>
                    <a:pt x="91874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898968" cy="854396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3048" y="6733473"/>
            <a:ext cx="15241903" cy="2384244"/>
            <a:chOff x="0" y="0"/>
            <a:chExt cx="4188791" cy="655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88791" cy="655240"/>
            </a:xfrm>
            <a:custGeom>
              <a:avLst/>
              <a:gdLst/>
              <a:ahLst/>
              <a:cxnLst/>
              <a:rect l="l" t="t" r="r" b="b"/>
              <a:pathLst>
                <a:path w="4188791" h="655240">
                  <a:moveTo>
                    <a:pt x="41651" y="0"/>
                  </a:moveTo>
                  <a:lnTo>
                    <a:pt x="4147140" y="0"/>
                  </a:lnTo>
                  <a:cubicBezTo>
                    <a:pt x="4170143" y="0"/>
                    <a:pt x="4188791" y="18648"/>
                    <a:pt x="4188791" y="41651"/>
                  </a:cubicBezTo>
                  <a:lnTo>
                    <a:pt x="4188791" y="613589"/>
                  </a:lnTo>
                  <a:cubicBezTo>
                    <a:pt x="4188791" y="624635"/>
                    <a:pt x="4184403" y="635229"/>
                    <a:pt x="4176592" y="643040"/>
                  </a:cubicBezTo>
                  <a:cubicBezTo>
                    <a:pt x="4168780" y="650851"/>
                    <a:pt x="4158186" y="655240"/>
                    <a:pt x="4147140" y="655240"/>
                  </a:cubicBezTo>
                  <a:lnTo>
                    <a:pt x="41651" y="655240"/>
                  </a:lnTo>
                  <a:cubicBezTo>
                    <a:pt x="18648" y="655240"/>
                    <a:pt x="0" y="636592"/>
                    <a:pt x="0" y="613589"/>
                  </a:cubicBezTo>
                  <a:lnTo>
                    <a:pt x="0" y="41651"/>
                  </a:lnTo>
                  <a:cubicBezTo>
                    <a:pt x="0" y="30604"/>
                    <a:pt x="4388" y="20010"/>
                    <a:pt x="12199" y="12199"/>
                  </a:cubicBezTo>
                  <a:cubicBezTo>
                    <a:pt x="20010" y="4388"/>
                    <a:pt x="30604" y="0"/>
                    <a:pt x="4165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188791" cy="712390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545829" y="4303836"/>
            <a:ext cx="788030" cy="78803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733894" y="4535590"/>
            <a:ext cx="411900" cy="21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24"/>
              </a:lnSpc>
            </a:pPr>
            <a:r>
              <a:rPr lang="en-US" sz="152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86710" y="3977351"/>
            <a:ext cx="4487522" cy="1254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3"/>
              </a:lnSpc>
            </a:pPr>
            <a:r>
              <a:rPr lang="en-US" sz="1673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Main Objective : Demonstrate comprehensive understanding of OS concepts — including process scheduling, memory management, interrupt handling, and file systems — through the practical implementation of Spark OS.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188985" y="7483473"/>
            <a:ext cx="788030" cy="78803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377050" y="7694472"/>
            <a:ext cx="411900" cy="21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24"/>
              </a:lnSpc>
            </a:pPr>
            <a:r>
              <a:rPr lang="en-US" sz="152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65135" y="7427484"/>
            <a:ext cx="12709097" cy="659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3"/>
              </a:lnSpc>
            </a:pPr>
            <a:r>
              <a:rPr lang="en-US" sz="1673" dirty="0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Core Objective: Build a fully functional mini-OS (Spark OS) that boots independently from a bootloader, manages concurrent processes via a round-robin scheduler, handles hardware interrupts, allocates and frees memory dynamically, and provides an interactive command-line shell interface for user interaction.</a:t>
            </a:r>
          </a:p>
        </p:txBody>
      </p:sp>
      <p:sp>
        <p:nvSpPr>
          <p:cNvPr id="21" name="Freeform 21"/>
          <p:cNvSpPr/>
          <p:nvPr/>
        </p:nvSpPr>
        <p:spPr>
          <a:xfrm>
            <a:off x="8185089" y="3001030"/>
            <a:ext cx="997386" cy="991033"/>
          </a:xfrm>
          <a:custGeom>
            <a:avLst/>
            <a:gdLst/>
            <a:ahLst/>
            <a:cxnLst/>
            <a:rect l="l" t="t" r="r" b="b"/>
            <a:pathLst>
              <a:path w="997386" h="991033">
                <a:moveTo>
                  <a:pt x="0" y="0"/>
                </a:moveTo>
                <a:lnTo>
                  <a:pt x="997385" y="0"/>
                </a:lnTo>
                <a:lnTo>
                  <a:pt x="997385" y="991033"/>
                </a:lnTo>
                <a:lnTo>
                  <a:pt x="0" y="991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1297615" y="1169283"/>
            <a:ext cx="5467337" cy="988957"/>
            <a:chOff x="0" y="0"/>
            <a:chExt cx="1457479" cy="26363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523048" y="1514922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AutoShape 26"/>
          <p:cNvSpPr/>
          <p:nvPr/>
        </p:nvSpPr>
        <p:spPr>
          <a:xfrm>
            <a:off x="2965365" y="1702676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TextBox 27"/>
          <p:cNvSpPr txBox="1"/>
          <p:nvPr/>
        </p:nvSpPr>
        <p:spPr>
          <a:xfrm>
            <a:off x="11754696" y="1495872"/>
            <a:ext cx="4553174" cy="227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6"/>
              </a:lnSpc>
            </a:pPr>
            <a:r>
              <a:rPr lang="en-US" sz="1656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 Tech Titans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74744" y="4603422"/>
            <a:ext cx="2445367" cy="2445367"/>
          </a:xfrm>
          <a:custGeom>
            <a:avLst/>
            <a:gdLst/>
            <a:ahLst/>
            <a:cxnLst/>
            <a:rect l="l" t="t" r="r" b="b"/>
            <a:pathLst>
              <a:path w="2445367" h="2445367">
                <a:moveTo>
                  <a:pt x="0" y="0"/>
                </a:moveTo>
                <a:lnTo>
                  <a:pt x="2445367" y="0"/>
                </a:lnTo>
                <a:lnTo>
                  <a:pt x="2445367" y="2445367"/>
                </a:lnTo>
                <a:lnTo>
                  <a:pt x="0" y="244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297615" y="1066456"/>
            <a:ext cx="5467337" cy="988957"/>
            <a:chOff x="0" y="0"/>
            <a:chExt cx="1457479" cy="2636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000"/>
                  </a:srgbClr>
                </a:gs>
                <a:gs pos="50000">
                  <a:srgbClr val="F1F1F1">
                    <a:alpha val="5000"/>
                  </a:srgbClr>
                </a:gs>
                <a:gs pos="100000">
                  <a:srgbClr val="F1F1F1">
                    <a:alpha val="5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23048" y="1412096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2"/>
                </a:lnTo>
                <a:lnTo>
                  <a:pt x="0" y="3850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2965365" y="1599850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523048" y="4865090"/>
            <a:ext cx="5520734" cy="4355453"/>
            <a:chOff x="0" y="0"/>
            <a:chExt cx="1772900" cy="13986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2900" cy="1398688"/>
            </a:xfrm>
            <a:custGeom>
              <a:avLst/>
              <a:gdLst/>
              <a:ahLst/>
              <a:cxnLst/>
              <a:rect l="l" t="t" r="r" b="b"/>
              <a:pathLst>
                <a:path w="1772900" h="1398688">
                  <a:moveTo>
                    <a:pt x="70117" y="0"/>
                  </a:moveTo>
                  <a:lnTo>
                    <a:pt x="1702783" y="0"/>
                  </a:lnTo>
                  <a:cubicBezTo>
                    <a:pt x="1721380" y="0"/>
                    <a:pt x="1739214" y="7387"/>
                    <a:pt x="1752364" y="20537"/>
                  </a:cubicBezTo>
                  <a:cubicBezTo>
                    <a:pt x="1765513" y="33686"/>
                    <a:pt x="1772900" y="51521"/>
                    <a:pt x="1772900" y="70117"/>
                  </a:cubicBezTo>
                  <a:lnTo>
                    <a:pt x="1772900" y="1328571"/>
                  </a:lnTo>
                  <a:cubicBezTo>
                    <a:pt x="1772900" y="1367296"/>
                    <a:pt x="1741508" y="1398688"/>
                    <a:pt x="1702783" y="1398688"/>
                  </a:cubicBezTo>
                  <a:lnTo>
                    <a:pt x="70117" y="1398688"/>
                  </a:lnTo>
                  <a:cubicBezTo>
                    <a:pt x="51521" y="1398688"/>
                    <a:pt x="33686" y="1391301"/>
                    <a:pt x="20537" y="1378151"/>
                  </a:cubicBezTo>
                  <a:cubicBezTo>
                    <a:pt x="7387" y="1365002"/>
                    <a:pt x="0" y="1347167"/>
                    <a:pt x="0" y="1328571"/>
                  </a:cubicBezTo>
                  <a:lnTo>
                    <a:pt x="0" y="70117"/>
                  </a:lnTo>
                  <a:cubicBezTo>
                    <a:pt x="0" y="51521"/>
                    <a:pt x="7387" y="33686"/>
                    <a:pt x="20537" y="20537"/>
                  </a:cubicBezTo>
                  <a:cubicBezTo>
                    <a:pt x="33686" y="7387"/>
                    <a:pt x="51521" y="0"/>
                    <a:pt x="70117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772900" cy="1455838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94094" y="4865090"/>
            <a:ext cx="5520734" cy="2105366"/>
            <a:chOff x="0" y="0"/>
            <a:chExt cx="1772900" cy="6761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72900" cy="676107"/>
            </a:xfrm>
            <a:custGeom>
              <a:avLst/>
              <a:gdLst/>
              <a:ahLst/>
              <a:cxnLst/>
              <a:rect l="l" t="t" r="r" b="b"/>
              <a:pathLst>
                <a:path w="1772900" h="676107">
                  <a:moveTo>
                    <a:pt x="70117" y="0"/>
                  </a:moveTo>
                  <a:lnTo>
                    <a:pt x="1702783" y="0"/>
                  </a:lnTo>
                  <a:cubicBezTo>
                    <a:pt x="1721380" y="0"/>
                    <a:pt x="1739214" y="7387"/>
                    <a:pt x="1752364" y="20537"/>
                  </a:cubicBezTo>
                  <a:cubicBezTo>
                    <a:pt x="1765513" y="33686"/>
                    <a:pt x="1772900" y="51521"/>
                    <a:pt x="1772900" y="70117"/>
                  </a:cubicBezTo>
                  <a:lnTo>
                    <a:pt x="1772900" y="605990"/>
                  </a:lnTo>
                  <a:cubicBezTo>
                    <a:pt x="1772900" y="644714"/>
                    <a:pt x="1741508" y="676107"/>
                    <a:pt x="1702783" y="676107"/>
                  </a:cubicBezTo>
                  <a:lnTo>
                    <a:pt x="70117" y="676107"/>
                  </a:lnTo>
                  <a:cubicBezTo>
                    <a:pt x="31392" y="676107"/>
                    <a:pt x="0" y="644714"/>
                    <a:pt x="0" y="605990"/>
                  </a:cubicBezTo>
                  <a:lnTo>
                    <a:pt x="0" y="70117"/>
                  </a:lnTo>
                  <a:cubicBezTo>
                    <a:pt x="0" y="51521"/>
                    <a:pt x="7387" y="33686"/>
                    <a:pt x="20537" y="20537"/>
                  </a:cubicBezTo>
                  <a:cubicBezTo>
                    <a:pt x="33686" y="7387"/>
                    <a:pt x="51521" y="0"/>
                    <a:pt x="70117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772900" cy="733257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54247" y="5412001"/>
            <a:ext cx="643505" cy="604670"/>
            <a:chOff x="0" y="0"/>
            <a:chExt cx="865002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974572" y="5313103"/>
            <a:ext cx="643505" cy="604670"/>
            <a:chOff x="0" y="0"/>
            <a:chExt cx="865002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394094" y="7115177"/>
            <a:ext cx="5520734" cy="2105366"/>
            <a:chOff x="0" y="0"/>
            <a:chExt cx="1772900" cy="67610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72900" cy="676107"/>
            </a:xfrm>
            <a:custGeom>
              <a:avLst/>
              <a:gdLst/>
              <a:ahLst/>
              <a:cxnLst/>
              <a:rect l="l" t="t" r="r" b="b"/>
              <a:pathLst>
                <a:path w="1772900" h="676107">
                  <a:moveTo>
                    <a:pt x="70117" y="0"/>
                  </a:moveTo>
                  <a:lnTo>
                    <a:pt x="1702783" y="0"/>
                  </a:lnTo>
                  <a:cubicBezTo>
                    <a:pt x="1721380" y="0"/>
                    <a:pt x="1739214" y="7387"/>
                    <a:pt x="1752364" y="20537"/>
                  </a:cubicBezTo>
                  <a:cubicBezTo>
                    <a:pt x="1765513" y="33686"/>
                    <a:pt x="1772900" y="51521"/>
                    <a:pt x="1772900" y="70117"/>
                  </a:cubicBezTo>
                  <a:lnTo>
                    <a:pt x="1772900" y="605990"/>
                  </a:lnTo>
                  <a:cubicBezTo>
                    <a:pt x="1772900" y="644714"/>
                    <a:pt x="1741508" y="676107"/>
                    <a:pt x="1702783" y="676107"/>
                  </a:cubicBezTo>
                  <a:lnTo>
                    <a:pt x="70117" y="676107"/>
                  </a:lnTo>
                  <a:cubicBezTo>
                    <a:pt x="31392" y="676107"/>
                    <a:pt x="0" y="644714"/>
                    <a:pt x="0" y="605990"/>
                  </a:cubicBezTo>
                  <a:lnTo>
                    <a:pt x="0" y="70117"/>
                  </a:lnTo>
                  <a:cubicBezTo>
                    <a:pt x="0" y="51521"/>
                    <a:pt x="7387" y="33686"/>
                    <a:pt x="20537" y="20537"/>
                  </a:cubicBezTo>
                  <a:cubicBezTo>
                    <a:pt x="33686" y="7387"/>
                    <a:pt x="51521" y="0"/>
                    <a:pt x="70117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772900" cy="733257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974572" y="7456231"/>
            <a:ext cx="643505" cy="604670"/>
            <a:chOff x="0" y="0"/>
            <a:chExt cx="865002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754696" y="1402571"/>
            <a:ext cx="4553174" cy="326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1"/>
              </a:lnSpc>
            </a:pPr>
            <a:r>
              <a:rPr lang="en-US" sz="2381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</a:t>
            </a:r>
            <a:r>
              <a:rPr lang="en-US" sz="2400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Tech Titans </a:t>
            </a:r>
            <a:endParaRPr lang="en-US" sz="2381" i="1" dirty="0">
              <a:solidFill>
                <a:srgbClr val="A2A2A2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523048" y="2618869"/>
            <a:ext cx="15241903" cy="174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52"/>
              </a:lnSpc>
            </a:pPr>
            <a:r>
              <a:rPr lang="en-US" sz="6052" dirty="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SPARK OS : USER INTERFACE &amp; SHELL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07821" y="5592047"/>
            <a:ext cx="336358" cy="245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1"/>
              </a:lnSpc>
            </a:pPr>
            <a:r>
              <a:rPr lang="en-US" sz="168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81193" y="5535362"/>
            <a:ext cx="3631390" cy="30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</a:pPr>
            <a:r>
              <a:rPr lang="en-US" sz="2100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Command Line Shell 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54247" y="6457050"/>
            <a:ext cx="4049000" cy="72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4"/>
              </a:lnSpc>
            </a:pPr>
            <a:r>
              <a:rPr lang="en-US" sz="1864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Interactive terminal with real-time command parsing &amp; execution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54247" y="7264990"/>
            <a:ext cx="4381311" cy="49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4"/>
              </a:lnSpc>
            </a:pPr>
            <a:r>
              <a:rPr lang="en-US" sz="1864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Built-in commands: ls, cd, mkdir, rm, echo, cat, ps, kill, clear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54247" y="8061392"/>
            <a:ext cx="4458337" cy="49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4"/>
              </a:lnSpc>
            </a:pPr>
            <a:r>
              <a:rPr lang="en-US" sz="1864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Command history, tab-completion &amp; piping support for power users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28146" y="5493148"/>
            <a:ext cx="336358" cy="245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1"/>
              </a:lnSpc>
            </a:pPr>
            <a:r>
              <a:rPr lang="en-US" sz="168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01519" y="5436463"/>
            <a:ext cx="3224303" cy="30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</a:pPr>
            <a:r>
              <a:rPr lang="en-US" sz="2100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Monitor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74572" y="6119583"/>
            <a:ext cx="4359778" cy="48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7"/>
              </a:lnSpc>
            </a:pPr>
            <a:r>
              <a:rPr lang="en-US" sz="1867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Real-time CPU, RAM &amp; process tracking with live usage graphs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28146" y="7645802"/>
            <a:ext cx="336358" cy="245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1"/>
              </a:lnSpc>
            </a:pPr>
            <a:r>
              <a:rPr lang="en-US" sz="168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01519" y="7589117"/>
            <a:ext cx="3532832" cy="30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</a:pPr>
            <a:r>
              <a:rPr lang="en-US" sz="2100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Help System 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74572" y="8287590"/>
            <a:ext cx="4359778" cy="48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7"/>
              </a:lnSpc>
            </a:pPr>
            <a:r>
              <a:rPr lang="en-US" sz="1867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Comprehensive man-page docs, command reference &amp; error guides</a:t>
            </a:r>
          </a:p>
        </p:txBody>
      </p:sp>
      <p:sp>
        <p:nvSpPr>
          <p:cNvPr id="39" name="Freeform 39"/>
          <p:cNvSpPr/>
          <p:nvPr/>
        </p:nvSpPr>
        <p:spPr>
          <a:xfrm>
            <a:off x="12823070" y="5681886"/>
            <a:ext cx="7796296" cy="7796296"/>
          </a:xfrm>
          <a:custGeom>
            <a:avLst/>
            <a:gdLst/>
            <a:ahLst/>
            <a:cxnLst/>
            <a:rect l="l" t="t" r="r" b="b"/>
            <a:pathLst>
              <a:path w="7796296" h="7796296">
                <a:moveTo>
                  <a:pt x="0" y="0"/>
                </a:moveTo>
                <a:lnTo>
                  <a:pt x="7796296" y="0"/>
                </a:lnTo>
                <a:lnTo>
                  <a:pt x="7796296" y="7796296"/>
                </a:lnTo>
                <a:lnTo>
                  <a:pt x="0" y="77962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8000"/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4171863" y="4736868"/>
            <a:ext cx="1189961" cy="1189961"/>
          </a:xfrm>
          <a:custGeom>
            <a:avLst/>
            <a:gdLst/>
            <a:ahLst/>
            <a:cxnLst/>
            <a:rect l="l" t="t" r="r" b="b"/>
            <a:pathLst>
              <a:path w="1189961" h="1189961">
                <a:moveTo>
                  <a:pt x="0" y="0"/>
                </a:moveTo>
                <a:lnTo>
                  <a:pt x="1189960" y="0"/>
                </a:lnTo>
                <a:lnTo>
                  <a:pt x="1189960" y="1189960"/>
                </a:lnTo>
                <a:lnTo>
                  <a:pt x="0" y="11899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8000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97615" y="1100978"/>
            <a:ext cx="5467337" cy="988957"/>
            <a:chOff x="0" y="0"/>
            <a:chExt cx="1457479" cy="2636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000"/>
                  </a:srgbClr>
                </a:gs>
                <a:gs pos="50000">
                  <a:srgbClr val="F1F1F1">
                    <a:alpha val="5000"/>
                  </a:srgbClr>
                </a:gs>
                <a:gs pos="100000">
                  <a:srgbClr val="F1F1F1">
                    <a:alpha val="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23048" y="1446617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2965365" y="1643896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1754696" y="1418042"/>
            <a:ext cx="4553174" cy="24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9"/>
              </a:lnSpc>
            </a:pPr>
            <a:r>
              <a:rPr lang="en-US" sz="1699" i="1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Spark OS — Security Features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33346" y="2935066"/>
            <a:ext cx="9931606" cy="451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91"/>
              </a:lnSpc>
            </a:pPr>
            <a:r>
              <a:rPr lang="en-US" sz="2791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SECURITY FEATURES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833346" y="4767308"/>
            <a:ext cx="4832029" cy="2127625"/>
            <a:chOff x="0" y="0"/>
            <a:chExt cx="1551733" cy="6832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932923" y="4767308"/>
            <a:ext cx="4832029" cy="2127625"/>
            <a:chOff x="0" y="0"/>
            <a:chExt cx="1551733" cy="6832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1225" y="7058397"/>
            <a:ext cx="4832029" cy="2127625"/>
            <a:chOff x="0" y="0"/>
            <a:chExt cx="1551733" cy="68325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1733" cy="683255"/>
            </a:xfrm>
            <a:custGeom>
              <a:avLst/>
              <a:gdLst/>
              <a:ahLst/>
              <a:cxnLst/>
              <a:rect l="l" t="t" r="r" b="b"/>
              <a:pathLst>
                <a:path w="1551733" h="683255">
                  <a:moveTo>
                    <a:pt x="65691" y="0"/>
                  </a:moveTo>
                  <a:lnTo>
                    <a:pt x="1486042" y="0"/>
                  </a:lnTo>
                  <a:cubicBezTo>
                    <a:pt x="1522322" y="0"/>
                    <a:pt x="1551733" y="29411"/>
                    <a:pt x="1551733" y="65691"/>
                  </a:cubicBezTo>
                  <a:lnTo>
                    <a:pt x="1551733" y="617564"/>
                  </a:lnTo>
                  <a:cubicBezTo>
                    <a:pt x="1551733" y="634986"/>
                    <a:pt x="1544812" y="651695"/>
                    <a:pt x="1532493" y="664014"/>
                  </a:cubicBezTo>
                  <a:cubicBezTo>
                    <a:pt x="1520173" y="676334"/>
                    <a:pt x="1503465" y="683255"/>
                    <a:pt x="1486042" y="683255"/>
                  </a:cubicBezTo>
                  <a:lnTo>
                    <a:pt x="65691" y="683255"/>
                  </a:lnTo>
                  <a:cubicBezTo>
                    <a:pt x="29411" y="683255"/>
                    <a:pt x="0" y="653844"/>
                    <a:pt x="0" y="617564"/>
                  </a:cubicBezTo>
                  <a:lnTo>
                    <a:pt x="0" y="65691"/>
                  </a:lnTo>
                  <a:cubicBezTo>
                    <a:pt x="0" y="48268"/>
                    <a:pt x="6921" y="31560"/>
                    <a:pt x="19240" y="19240"/>
                  </a:cubicBezTo>
                  <a:cubicBezTo>
                    <a:pt x="31560" y="6921"/>
                    <a:pt x="48268" y="0"/>
                    <a:pt x="6569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551733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950802" y="7058397"/>
            <a:ext cx="3899188" cy="2127625"/>
            <a:chOff x="0" y="0"/>
            <a:chExt cx="1252165" cy="6832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2165" cy="683255"/>
            </a:xfrm>
            <a:custGeom>
              <a:avLst/>
              <a:gdLst/>
              <a:ahLst/>
              <a:cxnLst/>
              <a:rect l="l" t="t" r="r" b="b"/>
              <a:pathLst>
                <a:path w="1252165" h="683255">
                  <a:moveTo>
                    <a:pt x="81406" y="0"/>
                  </a:moveTo>
                  <a:lnTo>
                    <a:pt x="1170759" y="0"/>
                  </a:lnTo>
                  <a:cubicBezTo>
                    <a:pt x="1192349" y="0"/>
                    <a:pt x="1213055" y="8577"/>
                    <a:pt x="1228322" y="23843"/>
                  </a:cubicBezTo>
                  <a:cubicBezTo>
                    <a:pt x="1243589" y="39110"/>
                    <a:pt x="1252165" y="59816"/>
                    <a:pt x="1252165" y="81406"/>
                  </a:cubicBezTo>
                  <a:lnTo>
                    <a:pt x="1252165" y="601848"/>
                  </a:lnTo>
                  <a:cubicBezTo>
                    <a:pt x="1252165" y="646808"/>
                    <a:pt x="1215718" y="683255"/>
                    <a:pt x="1170759" y="683255"/>
                  </a:cubicBezTo>
                  <a:lnTo>
                    <a:pt x="81406" y="683255"/>
                  </a:lnTo>
                  <a:cubicBezTo>
                    <a:pt x="36447" y="683255"/>
                    <a:pt x="0" y="646808"/>
                    <a:pt x="0" y="601848"/>
                  </a:cubicBezTo>
                  <a:lnTo>
                    <a:pt x="0" y="81406"/>
                  </a:lnTo>
                  <a:cubicBezTo>
                    <a:pt x="0" y="36447"/>
                    <a:pt x="36447" y="0"/>
                    <a:pt x="81406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52165" cy="74040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87128" y="5496715"/>
            <a:ext cx="849262" cy="798010"/>
            <a:chOff x="0" y="0"/>
            <a:chExt cx="865002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448896" y="5392552"/>
            <a:ext cx="2798456" cy="21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33"/>
              </a:lnSpc>
            </a:pPr>
            <a:r>
              <a:rPr lang="en-US" sz="1633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User Authentication 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00636" y="5914770"/>
            <a:ext cx="2568222" cy="46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9"/>
              </a:lnSpc>
            </a:pPr>
            <a:r>
              <a:rPr lang="en-US" sz="1199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Login system with hashed password storage, session tokens &amp; multi-factor support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365475" y="5496715"/>
            <a:ext cx="849262" cy="798010"/>
            <a:chOff x="0" y="0"/>
            <a:chExt cx="865002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09414" y="5252099"/>
            <a:ext cx="2798456" cy="21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33"/>
              </a:lnSpc>
            </a:pPr>
            <a:r>
              <a:rPr lang="en-US" sz="1633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Access Control 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9414" y="6052518"/>
            <a:ext cx="2568222" cy="46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9"/>
              </a:lnSpc>
            </a:pPr>
            <a:r>
              <a:rPr lang="en-US" sz="1199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File &amp; process permissions via ACL; owner/group/other privilege model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287128" y="7730854"/>
            <a:ext cx="863930" cy="811792"/>
            <a:chOff x="0" y="0"/>
            <a:chExt cx="865002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3" name="TextBox 33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8448896" y="7566011"/>
            <a:ext cx="1069333" cy="625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2"/>
              </a:lnSpc>
            </a:pPr>
            <a:r>
              <a:rPr lang="en-US" sz="1662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Kernel Protection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48896" y="8086197"/>
            <a:ext cx="2612579" cy="479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20"/>
              </a:lnSpc>
            </a:pPr>
            <a:r>
              <a:rPr lang="en-US" sz="1220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Ring-0 to Ring-3 privilege levels; user-space isolated from kernel-space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365475" y="7790019"/>
            <a:ext cx="863930" cy="811792"/>
            <a:chOff x="0" y="0"/>
            <a:chExt cx="865002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509414" y="7625176"/>
            <a:ext cx="1069333" cy="42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2"/>
              </a:lnSpc>
            </a:pPr>
            <a:r>
              <a:rPr lang="en-US" sz="1662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Interrupt Handling 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509414" y="8145362"/>
            <a:ext cx="2007487" cy="63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20"/>
              </a:lnSpc>
            </a:pPr>
            <a:r>
              <a:rPr lang="en-US" sz="1220" b="1">
                <a:solidFill>
                  <a:srgbClr val="A2A2A2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ISR routines; hardware interrupts validated before kernel dispatch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23048" y="8214965"/>
            <a:ext cx="5032902" cy="834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15"/>
              </a:lnSpc>
            </a:pPr>
            <a:r>
              <a:rPr lang="en-US" sz="2115" i="1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Defense Layers : Sandboxing, privilege separation, secure boot chain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43580" y="5788888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629260" y="5782955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43580" y="8023986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629260" y="8097861"/>
            <a:ext cx="336358" cy="15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"/>
              </a:lnSpc>
            </a:pPr>
            <a:r>
              <a:rPr lang="en-US" sz="1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14</a:t>
            </a:r>
          </a:p>
        </p:txBody>
      </p:sp>
      <p:sp>
        <p:nvSpPr>
          <p:cNvPr id="46" name="Freeform 46"/>
          <p:cNvSpPr/>
          <p:nvPr/>
        </p:nvSpPr>
        <p:spPr>
          <a:xfrm>
            <a:off x="15428764" y="7053739"/>
            <a:ext cx="1366968" cy="1930431"/>
          </a:xfrm>
          <a:custGeom>
            <a:avLst/>
            <a:gdLst/>
            <a:ahLst/>
            <a:cxnLst/>
            <a:rect l="l" t="t" r="r" b="b"/>
            <a:pathLst>
              <a:path w="1366968" h="1930431">
                <a:moveTo>
                  <a:pt x="0" y="0"/>
                </a:moveTo>
                <a:lnTo>
                  <a:pt x="1366967" y="0"/>
                </a:lnTo>
                <a:lnTo>
                  <a:pt x="1366967" y="1930432"/>
                </a:lnTo>
                <a:lnTo>
                  <a:pt x="0" y="193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-2025187" y="2178756"/>
            <a:ext cx="5161318" cy="5190192"/>
          </a:xfrm>
          <a:custGeom>
            <a:avLst/>
            <a:gdLst/>
            <a:ahLst/>
            <a:cxnLst/>
            <a:rect l="l" t="t" r="r" b="b"/>
            <a:pathLst>
              <a:path w="5161318" h="5190192">
                <a:moveTo>
                  <a:pt x="0" y="0"/>
                </a:moveTo>
                <a:lnTo>
                  <a:pt x="5161318" y="0"/>
                </a:lnTo>
                <a:lnTo>
                  <a:pt x="5161318" y="5190192"/>
                </a:lnTo>
                <a:lnTo>
                  <a:pt x="0" y="5190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397684" y="3051108"/>
            <a:ext cx="4343863" cy="4361666"/>
          </a:xfrm>
          <a:custGeom>
            <a:avLst/>
            <a:gdLst/>
            <a:ahLst/>
            <a:cxnLst/>
            <a:rect l="l" t="t" r="r" b="b"/>
            <a:pathLst>
              <a:path w="4343863" h="4361666">
                <a:moveTo>
                  <a:pt x="0" y="0"/>
                </a:moveTo>
                <a:lnTo>
                  <a:pt x="4343864" y="0"/>
                </a:lnTo>
                <a:lnTo>
                  <a:pt x="4343864" y="4361666"/>
                </a:lnTo>
                <a:lnTo>
                  <a:pt x="0" y="4361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8000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26691" y="3654871"/>
            <a:ext cx="8130688" cy="8130688"/>
          </a:xfrm>
          <a:custGeom>
            <a:avLst/>
            <a:gdLst/>
            <a:ahLst/>
            <a:cxnLst/>
            <a:rect l="l" t="t" r="r" b="b"/>
            <a:pathLst>
              <a:path w="8130688" h="8130688">
                <a:moveTo>
                  <a:pt x="0" y="0"/>
                </a:moveTo>
                <a:lnTo>
                  <a:pt x="8130688" y="0"/>
                </a:lnTo>
                <a:lnTo>
                  <a:pt x="8130688" y="8130688"/>
                </a:lnTo>
                <a:lnTo>
                  <a:pt x="0" y="8130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297615" y="1334294"/>
            <a:ext cx="5467337" cy="988957"/>
            <a:chOff x="0" y="0"/>
            <a:chExt cx="1457479" cy="2636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000"/>
                  </a:srgbClr>
                </a:gs>
                <a:gs pos="50000">
                  <a:srgbClr val="F1F1F1">
                    <a:alpha val="5000"/>
                  </a:srgbClr>
                </a:gs>
                <a:gs pos="100000">
                  <a:srgbClr val="F1F1F1">
                    <a:alpha val="5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23048" y="1679933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754696" y="1660883"/>
            <a:ext cx="4553174" cy="227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6"/>
              </a:lnSpc>
            </a:pPr>
            <a:r>
              <a:rPr lang="en-US" sz="1656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</a:t>
            </a:r>
            <a:r>
              <a:rPr lang="en-US" sz="1600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Tech Titans </a:t>
            </a:r>
            <a:endParaRPr lang="en-US" sz="1656" i="1" dirty="0">
              <a:solidFill>
                <a:srgbClr val="A2A2A2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965365" y="1867687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8105401" y="3380935"/>
            <a:ext cx="8659551" cy="859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353"/>
              </a:lnSpc>
            </a:pPr>
            <a:r>
              <a:rPr lang="en-US" sz="5353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CONCLUSION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302593" y="5354531"/>
            <a:ext cx="10462359" cy="3598175"/>
            <a:chOff x="0" y="0"/>
            <a:chExt cx="3359828" cy="11554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59828" cy="1155499"/>
            </a:xfrm>
            <a:custGeom>
              <a:avLst/>
              <a:gdLst/>
              <a:ahLst/>
              <a:cxnLst/>
              <a:rect l="l" t="t" r="r" b="b"/>
              <a:pathLst>
                <a:path w="3359828" h="1155499">
                  <a:moveTo>
                    <a:pt x="36999" y="0"/>
                  </a:moveTo>
                  <a:lnTo>
                    <a:pt x="3322829" y="0"/>
                  </a:lnTo>
                  <a:cubicBezTo>
                    <a:pt x="3343263" y="0"/>
                    <a:pt x="3359828" y="16565"/>
                    <a:pt x="3359828" y="36999"/>
                  </a:cubicBezTo>
                  <a:lnTo>
                    <a:pt x="3359828" y="1118501"/>
                  </a:lnTo>
                  <a:cubicBezTo>
                    <a:pt x="3359828" y="1138934"/>
                    <a:pt x="3343263" y="1155499"/>
                    <a:pt x="3322829" y="1155499"/>
                  </a:cubicBezTo>
                  <a:lnTo>
                    <a:pt x="36999" y="1155499"/>
                  </a:lnTo>
                  <a:cubicBezTo>
                    <a:pt x="16565" y="1155499"/>
                    <a:pt x="0" y="1138934"/>
                    <a:pt x="0" y="1118501"/>
                  </a:cubicBezTo>
                  <a:lnTo>
                    <a:pt x="0" y="36999"/>
                  </a:lnTo>
                  <a:cubicBezTo>
                    <a:pt x="0" y="16565"/>
                    <a:pt x="16565" y="0"/>
                    <a:pt x="36999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359828" cy="1212649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203997" y="6282405"/>
            <a:ext cx="8659551" cy="1969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75"/>
              </a:lnSpc>
            </a:pPr>
            <a:r>
              <a:rPr lang="en-US" sz="2175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Spark OS demonstrates a complete understanding of OS fundamentals through hands-on implementation. From bootloader to shell, every component — process management, memory allocation, file systems, and security — has been carefully engineered. This project stands as a solid foundation for understanding how modern operating systems function at their core, bridging theory with real-world design.</a:t>
            </a:r>
          </a:p>
        </p:txBody>
      </p:sp>
      <p:sp>
        <p:nvSpPr>
          <p:cNvPr id="14" name="Freeform 14"/>
          <p:cNvSpPr/>
          <p:nvPr/>
        </p:nvSpPr>
        <p:spPr>
          <a:xfrm>
            <a:off x="5986040" y="3168682"/>
            <a:ext cx="903905" cy="903905"/>
          </a:xfrm>
          <a:custGeom>
            <a:avLst/>
            <a:gdLst/>
            <a:ahLst/>
            <a:cxnLst/>
            <a:rect l="l" t="t" r="r" b="b"/>
            <a:pathLst>
              <a:path w="903905" h="903905">
                <a:moveTo>
                  <a:pt x="0" y="0"/>
                </a:moveTo>
                <a:lnTo>
                  <a:pt x="903905" y="0"/>
                </a:lnTo>
                <a:lnTo>
                  <a:pt x="903905" y="903905"/>
                </a:lnTo>
                <a:lnTo>
                  <a:pt x="0" y="903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15945" y="3128119"/>
            <a:ext cx="6300455" cy="6352741"/>
          </a:xfrm>
          <a:custGeom>
            <a:avLst/>
            <a:gdLst/>
            <a:ahLst/>
            <a:cxnLst/>
            <a:rect l="l" t="t" r="r" b="b"/>
            <a:pathLst>
              <a:path w="6300455" h="6352741">
                <a:moveTo>
                  <a:pt x="0" y="0"/>
                </a:moveTo>
                <a:lnTo>
                  <a:pt x="6300455" y="0"/>
                </a:lnTo>
                <a:lnTo>
                  <a:pt x="6300455" y="6352741"/>
                </a:lnTo>
                <a:lnTo>
                  <a:pt x="0" y="6352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23048" y="4139341"/>
            <a:ext cx="7855651" cy="1286921"/>
            <a:chOff x="0" y="0"/>
            <a:chExt cx="2714901" cy="444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14901" cy="444758"/>
            </a:xfrm>
            <a:custGeom>
              <a:avLst/>
              <a:gdLst/>
              <a:ahLst/>
              <a:cxnLst/>
              <a:rect l="l" t="t" r="r" b="b"/>
              <a:pathLst>
                <a:path w="2714901" h="444758">
                  <a:moveTo>
                    <a:pt x="49276" y="0"/>
                  </a:moveTo>
                  <a:lnTo>
                    <a:pt x="2665625" y="0"/>
                  </a:lnTo>
                  <a:cubicBezTo>
                    <a:pt x="2678693" y="0"/>
                    <a:pt x="2691227" y="5192"/>
                    <a:pt x="2700468" y="14433"/>
                  </a:cubicBezTo>
                  <a:cubicBezTo>
                    <a:pt x="2709709" y="23674"/>
                    <a:pt x="2714901" y="36207"/>
                    <a:pt x="2714901" y="49276"/>
                  </a:cubicBezTo>
                  <a:lnTo>
                    <a:pt x="2714901" y="395482"/>
                  </a:lnTo>
                  <a:cubicBezTo>
                    <a:pt x="2714901" y="408551"/>
                    <a:pt x="2709709" y="421084"/>
                    <a:pt x="2700468" y="430325"/>
                  </a:cubicBezTo>
                  <a:cubicBezTo>
                    <a:pt x="2691227" y="439566"/>
                    <a:pt x="2678693" y="444758"/>
                    <a:pt x="2665625" y="444758"/>
                  </a:cubicBezTo>
                  <a:lnTo>
                    <a:pt x="49276" y="444758"/>
                  </a:lnTo>
                  <a:cubicBezTo>
                    <a:pt x="36207" y="444758"/>
                    <a:pt x="23674" y="439566"/>
                    <a:pt x="14433" y="430325"/>
                  </a:cubicBezTo>
                  <a:cubicBezTo>
                    <a:pt x="5192" y="421084"/>
                    <a:pt x="0" y="408551"/>
                    <a:pt x="0" y="395482"/>
                  </a:cubicBezTo>
                  <a:lnTo>
                    <a:pt x="0" y="49276"/>
                  </a:lnTo>
                  <a:cubicBezTo>
                    <a:pt x="0" y="36207"/>
                    <a:pt x="5192" y="23674"/>
                    <a:pt x="14433" y="14433"/>
                  </a:cubicBezTo>
                  <a:cubicBezTo>
                    <a:pt x="23674" y="5192"/>
                    <a:pt x="36207" y="0"/>
                    <a:pt x="49276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14901" cy="501908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3048" y="5671388"/>
            <a:ext cx="7855651" cy="1286921"/>
            <a:chOff x="0" y="0"/>
            <a:chExt cx="2714901" cy="4447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14901" cy="444758"/>
            </a:xfrm>
            <a:custGeom>
              <a:avLst/>
              <a:gdLst/>
              <a:ahLst/>
              <a:cxnLst/>
              <a:rect l="l" t="t" r="r" b="b"/>
              <a:pathLst>
                <a:path w="2714901" h="444758">
                  <a:moveTo>
                    <a:pt x="49276" y="0"/>
                  </a:moveTo>
                  <a:lnTo>
                    <a:pt x="2665625" y="0"/>
                  </a:lnTo>
                  <a:cubicBezTo>
                    <a:pt x="2678693" y="0"/>
                    <a:pt x="2691227" y="5192"/>
                    <a:pt x="2700468" y="14433"/>
                  </a:cubicBezTo>
                  <a:cubicBezTo>
                    <a:pt x="2709709" y="23674"/>
                    <a:pt x="2714901" y="36207"/>
                    <a:pt x="2714901" y="49276"/>
                  </a:cubicBezTo>
                  <a:lnTo>
                    <a:pt x="2714901" y="395482"/>
                  </a:lnTo>
                  <a:cubicBezTo>
                    <a:pt x="2714901" y="408551"/>
                    <a:pt x="2709709" y="421084"/>
                    <a:pt x="2700468" y="430325"/>
                  </a:cubicBezTo>
                  <a:cubicBezTo>
                    <a:pt x="2691227" y="439566"/>
                    <a:pt x="2678693" y="444758"/>
                    <a:pt x="2665625" y="444758"/>
                  </a:cubicBezTo>
                  <a:lnTo>
                    <a:pt x="49276" y="444758"/>
                  </a:lnTo>
                  <a:cubicBezTo>
                    <a:pt x="36207" y="444758"/>
                    <a:pt x="23674" y="439566"/>
                    <a:pt x="14433" y="430325"/>
                  </a:cubicBezTo>
                  <a:cubicBezTo>
                    <a:pt x="5192" y="421084"/>
                    <a:pt x="0" y="408551"/>
                    <a:pt x="0" y="395482"/>
                  </a:cubicBezTo>
                  <a:lnTo>
                    <a:pt x="0" y="49276"/>
                  </a:lnTo>
                  <a:cubicBezTo>
                    <a:pt x="0" y="36207"/>
                    <a:pt x="5192" y="23674"/>
                    <a:pt x="14433" y="14433"/>
                  </a:cubicBezTo>
                  <a:cubicBezTo>
                    <a:pt x="23674" y="5192"/>
                    <a:pt x="36207" y="0"/>
                    <a:pt x="49276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714901" cy="501908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23048" y="7203435"/>
            <a:ext cx="7855651" cy="1286921"/>
            <a:chOff x="0" y="0"/>
            <a:chExt cx="2714901" cy="4447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14901" cy="444758"/>
            </a:xfrm>
            <a:custGeom>
              <a:avLst/>
              <a:gdLst/>
              <a:ahLst/>
              <a:cxnLst/>
              <a:rect l="l" t="t" r="r" b="b"/>
              <a:pathLst>
                <a:path w="2714901" h="444758">
                  <a:moveTo>
                    <a:pt x="49276" y="0"/>
                  </a:moveTo>
                  <a:lnTo>
                    <a:pt x="2665625" y="0"/>
                  </a:lnTo>
                  <a:cubicBezTo>
                    <a:pt x="2678693" y="0"/>
                    <a:pt x="2691227" y="5192"/>
                    <a:pt x="2700468" y="14433"/>
                  </a:cubicBezTo>
                  <a:cubicBezTo>
                    <a:pt x="2709709" y="23674"/>
                    <a:pt x="2714901" y="36207"/>
                    <a:pt x="2714901" y="49276"/>
                  </a:cubicBezTo>
                  <a:lnTo>
                    <a:pt x="2714901" y="395482"/>
                  </a:lnTo>
                  <a:cubicBezTo>
                    <a:pt x="2714901" y="408551"/>
                    <a:pt x="2709709" y="421084"/>
                    <a:pt x="2700468" y="430325"/>
                  </a:cubicBezTo>
                  <a:cubicBezTo>
                    <a:pt x="2691227" y="439566"/>
                    <a:pt x="2678693" y="444758"/>
                    <a:pt x="2665625" y="444758"/>
                  </a:cubicBezTo>
                  <a:lnTo>
                    <a:pt x="49276" y="444758"/>
                  </a:lnTo>
                  <a:cubicBezTo>
                    <a:pt x="36207" y="444758"/>
                    <a:pt x="23674" y="439566"/>
                    <a:pt x="14433" y="430325"/>
                  </a:cubicBezTo>
                  <a:cubicBezTo>
                    <a:pt x="5192" y="421084"/>
                    <a:pt x="0" y="408551"/>
                    <a:pt x="0" y="395482"/>
                  </a:cubicBezTo>
                  <a:lnTo>
                    <a:pt x="0" y="49276"/>
                  </a:lnTo>
                  <a:cubicBezTo>
                    <a:pt x="0" y="36207"/>
                    <a:pt x="5192" y="23674"/>
                    <a:pt x="14433" y="14433"/>
                  </a:cubicBezTo>
                  <a:cubicBezTo>
                    <a:pt x="23674" y="5192"/>
                    <a:pt x="36207" y="0"/>
                    <a:pt x="49276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714901" cy="501908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285720" y="4486515"/>
            <a:ext cx="733602" cy="689330"/>
            <a:chOff x="0" y="0"/>
            <a:chExt cx="865002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444491" y="4651724"/>
            <a:ext cx="419445" cy="361771"/>
          </a:xfrm>
          <a:custGeom>
            <a:avLst/>
            <a:gdLst/>
            <a:ahLst/>
            <a:cxnLst/>
            <a:rect l="l" t="t" r="r" b="b"/>
            <a:pathLst>
              <a:path w="419445" h="361771">
                <a:moveTo>
                  <a:pt x="0" y="0"/>
                </a:moveTo>
                <a:lnTo>
                  <a:pt x="419445" y="0"/>
                </a:lnTo>
                <a:lnTo>
                  <a:pt x="419445" y="361771"/>
                </a:lnTo>
                <a:lnTo>
                  <a:pt x="0" y="3617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2285720" y="5970183"/>
            <a:ext cx="733602" cy="689330"/>
            <a:chOff x="0" y="0"/>
            <a:chExt cx="865002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492380" y="6104037"/>
            <a:ext cx="330217" cy="415324"/>
          </a:xfrm>
          <a:custGeom>
            <a:avLst/>
            <a:gdLst/>
            <a:ahLst/>
            <a:cxnLst/>
            <a:rect l="l" t="t" r="r" b="b"/>
            <a:pathLst>
              <a:path w="330217" h="415324">
                <a:moveTo>
                  <a:pt x="0" y="0"/>
                </a:moveTo>
                <a:lnTo>
                  <a:pt x="330216" y="0"/>
                </a:lnTo>
                <a:lnTo>
                  <a:pt x="330216" y="415324"/>
                </a:lnTo>
                <a:lnTo>
                  <a:pt x="0" y="415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297534" y="4604171"/>
            <a:ext cx="3401723" cy="25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5"/>
              </a:lnSpc>
            </a:pPr>
            <a:r>
              <a:rPr lang="en-US" sz="1835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github.com/sparkos/mini-os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97534" y="6087839"/>
            <a:ext cx="5204392" cy="25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5"/>
              </a:lnSpc>
            </a:pPr>
            <a:r>
              <a:rPr lang="en-US" sz="1835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docs.sparkos.dev/manual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285720" y="7453609"/>
            <a:ext cx="733602" cy="689330"/>
            <a:chOff x="0" y="0"/>
            <a:chExt cx="865002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65002" cy="812800"/>
            </a:xfrm>
            <a:custGeom>
              <a:avLst/>
              <a:gdLst/>
              <a:ahLst/>
              <a:cxnLst/>
              <a:rect l="l" t="t" r="r" b="b"/>
              <a:pathLst>
                <a:path w="865002" h="812800">
                  <a:moveTo>
                    <a:pt x="432501" y="0"/>
                  </a:moveTo>
                  <a:cubicBezTo>
                    <a:pt x="193637" y="0"/>
                    <a:pt x="0" y="181951"/>
                    <a:pt x="0" y="406400"/>
                  </a:cubicBezTo>
                  <a:cubicBezTo>
                    <a:pt x="0" y="630849"/>
                    <a:pt x="193637" y="812800"/>
                    <a:pt x="432501" y="812800"/>
                  </a:cubicBezTo>
                  <a:cubicBezTo>
                    <a:pt x="671365" y="812800"/>
                    <a:pt x="865002" y="630849"/>
                    <a:pt x="865002" y="406400"/>
                  </a:cubicBezTo>
                  <a:cubicBezTo>
                    <a:pt x="865002" y="181951"/>
                    <a:pt x="671365" y="0"/>
                    <a:pt x="4325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81094" y="19050"/>
              <a:ext cx="702814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2407370" y="7681458"/>
            <a:ext cx="520379" cy="333754"/>
          </a:xfrm>
          <a:custGeom>
            <a:avLst/>
            <a:gdLst/>
            <a:ahLst/>
            <a:cxnLst/>
            <a:rect l="l" t="t" r="r" b="b"/>
            <a:pathLst>
              <a:path w="520379" h="333754">
                <a:moveTo>
                  <a:pt x="0" y="0"/>
                </a:moveTo>
                <a:lnTo>
                  <a:pt x="520380" y="0"/>
                </a:lnTo>
                <a:lnTo>
                  <a:pt x="520380" y="333754"/>
                </a:lnTo>
                <a:lnTo>
                  <a:pt x="0" y="3337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374297" y="7556924"/>
            <a:ext cx="5547320" cy="25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5"/>
              </a:lnSpc>
            </a:pPr>
            <a:r>
              <a:rPr lang="en-US" sz="1835" dirty="0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sparkos.queries@college.edu</a:t>
            </a:r>
          </a:p>
        </p:txBody>
      </p:sp>
      <p:sp>
        <p:nvSpPr>
          <p:cNvPr id="28" name="Freeform 28"/>
          <p:cNvSpPr/>
          <p:nvPr/>
        </p:nvSpPr>
        <p:spPr>
          <a:xfrm>
            <a:off x="10620898" y="7353657"/>
            <a:ext cx="1353433" cy="1353433"/>
          </a:xfrm>
          <a:custGeom>
            <a:avLst/>
            <a:gdLst/>
            <a:ahLst/>
            <a:cxnLst/>
            <a:rect l="l" t="t" r="r" b="b"/>
            <a:pathLst>
              <a:path w="1353433" h="1353433">
                <a:moveTo>
                  <a:pt x="0" y="0"/>
                </a:moveTo>
                <a:lnTo>
                  <a:pt x="1353434" y="0"/>
                </a:lnTo>
                <a:lnTo>
                  <a:pt x="1353434" y="1353433"/>
                </a:lnTo>
                <a:lnTo>
                  <a:pt x="0" y="13534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1297615" y="1334294"/>
            <a:ext cx="5467337" cy="988957"/>
            <a:chOff x="0" y="0"/>
            <a:chExt cx="1457479" cy="26363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57479" cy="263635"/>
            </a:xfrm>
            <a:custGeom>
              <a:avLst/>
              <a:gdLst/>
              <a:ahLst/>
              <a:cxnLst/>
              <a:rect l="l" t="t" r="r" b="b"/>
              <a:pathLst>
                <a:path w="1457479" h="263635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000"/>
                  </a:srgbClr>
                </a:gs>
                <a:gs pos="50000">
                  <a:srgbClr val="F1F1F1">
                    <a:alpha val="5000"/>
                  </a:srgbClr>
                </a:gs>
                <a:gs pos="100000">
                  <a:srgbClr val="F1F1F1">
                    <a:alpha val="5000"/>
                  </a:srgbClr>
                </a:gs>
              </a:gsLst>
              <a:lin ang="0"/>
            </a:grad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lIns="52257" tIns="52257" rIns="52257" bIns="52257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523048" y="1679933"/>
            <a:ext cx="665937" cy="385033"/>
          </a:xfrm>
          <a:custGeom>
            <a:avLst/>
            <a:gdLst/>
            <a:ahLst/>
            <a:cxnLst/>
            <a:rect l="l" t="t" r="r" b="b"/>
            <a:pathLst>
              <a:path w="665937" h="385033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1754696" y="1651358"/>
            <a:ext cx="4553174" cy="1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97"/>
              </a:lnSpc>
            </a:pPr>
            <a:r>
              <a:rPr lang="en-US" sz="1397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</a:t>
            </a:r>
            <a:r>
              <a:rPr lang="en-US" sz="1400" i="1" dirty="0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Tech Titans </a:t>
            </a:r>
            <a:endParaRPr lang="en-US" sz="1397" i="1" dirty="0">
              <a:solidFill>
                <a:srgbClr val="A2A2A2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2965365" y="1867687"/>
            <a:ext cx="7555869" cy="9525"/>
          </a:xfrm>
          <a:prstGeom prst="line">
            <a:avLst/>
          </a:prstGeom>
          <a:ln w="19050" cap="flat">
            <a:solidFill>
              <a:srgbClr val="4C4C4C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hank you">
            <a:hlinkClick r:id="" action="ppaction://media"/>
            <a:extLst>
              <a:ext uri="{FF2B5EF4-FFF2-40B4-BE49-F238E27FC236}">
                <a16:creationId xmlns:a16="http://schemas.microsoft.com/office/drawing/2014/main" id="{9AB0DDD3-28F1-3956-4F13-664E2DF4C9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"/>
            <a:ext cx="18288000" cy="1020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21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4458"/>
    </mc:Choice>
    <mc:Fallback>
      <p:transition spd="slow" advTm="1244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1143</Words>
  <Application>Microsoft Office PowerPoint</Application>
  <PresentationFormat>Custom</PresentationFormat>
  <Paragraphs>177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Poppins Bold</vt:lpstr>
      <vt:lpstr>Calibri</vt:lpstr>
      <vt:lpstr>Poppins Italics</vt:lpstr>
      <vt:lpstr>Agrandir Grand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HM-70707</dc:creator>
  <cp:lastModifiedBy>Surya Sai Harsha M-Student-CBSE-Oxford Grammar School</cp:lastModifiedBy>
  <cp:revision>7</cp:revision>
  <dcterms:created xsi:type="dcterms:W3CDTF">2006-08-16T00:00:00Z</dcterms:created>
  <dcterms:modified xsi:type="dcterms:W3CDTF">2026-08-04T14:52:02Z</dcterms:modified>
  <dc:identifier>DAHRVRx4a3o</dc:identifier>
</cp:coreProperties>
</file>